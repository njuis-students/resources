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gs" Target="tags/tag8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0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Lean4</a:t>
            </a:r>
            <a:r>
              <a:rPr lang="zh-CN" altLang="en-US"/>
              <a:t>基础语法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Presented by </a:t>
            </a:r>
            <a:r>
              <a:rPr lang="zh-CN" altLang="en-US"/>
              <a:t>周桢瑜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表达式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 sz="2400">
                <a:latin typeface="Consolas" panose="020B0609020204030204" charset="0"/>
                <a:cs typeface="Consolas" panose="020B0609020204030204" charset="0"/>
              </a:rPr>
              <a:t>#eval 1 + 2</a:t>
            </a:r>
            <a:endParaRPr lang="zh-CN" altLang="en-US" sz="2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zh-CN" altLang="en-US" sz="2400">
                <a:latin typeface="Consolas" panose="020B0609020204030204" charset="0"/>
                <a:cs typeface="Consolas" panose="020B0609020204030204" charset="0"/>
              </a:rPr>
              <a:t>#eval 1 + 2 * 5</a:t>
            </a:r>
            <a:endParaRPr lang="zh-CN" altLang="en-US" sz="2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zh-CN" altLang="en-US" sz="2400">
                <a:latin typeface="Consolas" panose="020B0609020204030204" charset="0"/>
                <a:cs typeface="Consolas" panose="020B0609020204030204" charset="0"/>
              </a:rPr>
              <a:t>#eval String.append("Hello, ", "Lean!")</a:t>
            </a:r>
            <a:endParaRPr lang="zh-CN" altLang="en-US" sz="2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zh-CN" altLang="en-US" sz="2400">
                <a:latin typeface="Consolas" panose="020B0609020204030204" charset="0"/>
                <a:cs typeface="Consolas" panose="020B0609020204030204" charset="0"/>
              </a:rPr>
              <a:t>#eval String.append "great " (String.append "oak " "tree")</a:t>
            </a:r>
            <a:endParaRPr lang="zh-CN" altLang="en-US" sz="2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zh-CN" altLang="en-US" sz="2400">
                <a:latin typeface="Consolas" panose="020B0609020204030204" charset="0"/>
                <a:cs typeface="Consolas" panose="020B0609020204030204" charset="0"/>
                <a:sym typeface="+mn-ea"/>
              </a:rPr>
              <a:t>#eval </a:t>
            </a:r>
            <a:r>
              <a:rPr lang="zh-CN" altLang="en-US" sz="2400">
                <a:latin typeface="Consolas" panose="020B0609020204030204" charset="0"/>
                <a:cs typeface="Consolas" panose="020B0609020204030204" charset="0"/>
              </a:rPr>
              <a:t>String.append "it is " (if 1 &gt; 2 then "yes" else "no")</a:t>
            </a:r>
            <a:endParaRPr lang="zh-CN" altLang="en-US" sz="2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zh-CN" altLang="en-US" sz="2400">
                <a:latin typeface="Consolas" panose="020B0609020204030204" charset="0"/>
                <a:cs typeface="Consolas" panose="020B0609020204030204" charset="0"/>
                <a:sym typeface="+mn-ea"/>
              </a:rPr>
              <a:t>#eval</a:t>
            </a:r>
            <a:r>
              <a:rPr lang="zh-CN" altLang="en-US" sz="2400">
                <a:latin typeface="Consolas" panose="020B0609020204030204" charset="0"/>
                <a:cs typeface="Consolas" panose="020B0609020204030204" charset="0"/>
              </a:rPr>
              <a:t> if 3 == 3 then 5 else 7</a:t>
            </a:r>
            <a:endParaRPr lang="zh-CN" altLang="en-US" sz="2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endParaRPr lang="zh-CN" altLang="en-US" sz="2400">
              <a:latin typeface="Consolas" panose="020B0609020204030204" charset="0"/>
              <a:cs typeface="Consolas" panose="020B06090202040302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括号的去留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490345"/>
            <a:ext cx="10968990" cy="2559050"/>
          </a:xfrm>
        </p:spPr>
        <p:txBody>
          <a:bodyPr/>
          <a:p>
            <a:pPr marL="0" indent="0">
              <a:buNone/>
            </a:pPr>
            <a:r>
              <a:rPr lang="zh-CN" altLang="en-US" sz="2400">
                <a:solidFill>
                  <a:schemeClr val="accent3">
                    <a:lumMod val="50000"/>
                  </a:schemeClr>
                </a:solidFill>
              </a:rPr>
              <a:t>#eval String.append("Hello, ", "Lean!")</a:t>
            </a:r>
            <a:endParaRPr lang="zh-CN" altLang="en-US" sz="240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sz="2400">
                <a:solidFill>
                  <a:schemeClr val="accent3">
                    <a:lumMod val="50000"/>
                  </a:schemeClr>
                </a:solidFill>
              </a:rPr>
              <a:t>#eval String.append "Hello, " "Lean!"</a:t>
            </a:r>
            <a:endParaRPr lang="zh-CN" altLang="en-US" sz="240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sz="2400">
                <a:solidFill>
                  <a:srgbClr val="C00000"/>
                </a:solidFill>
              </a:rPr>
              <a:t>#eval String.append "great " String.append "oak " "tree"</a:t>
            </a:r>
            <a:r>
              <a:rPr lang="en-US" altLang="zh-CN" sz="2400">
                <a:solidFill>
                  <a:srgbClr val="C00000"/>
                </a:solidFill>
              </a:rPr>
              <a:t> </a:t>
            </a:r>
            <a:endParaRPr lang="zh-CN" altLang="en-US" sz="240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sz="2400">
                <a:solidFill>
                  <a:schemeClr val="accent3">
                    <a:lumMod val="50000"/>
                  </a:schemeClr>
                </a:solidFill>
              </a:rPr>
              <a:t>#eval String.append "great " (String.append "oak " "tree")</a:t>
            </a:r>
            <a:endParaRPr lang="zh-CN" altLang="en-US" sz="240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38885" y="4427855"/>
            <a:ext cx="187642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000"/>
              <a:t>WHY</a:t>
            </a:r>
            <a:r>
              <a:rPr lang="zh-CN" altLang="en-US" sz="4000"/>
              <a:t>？</a:t>
            </a:r>
            <a:endParaRPr lang="zh-CN" altLang="en-US" sz="4000"/>
          </a:p>
        </p:txBody>
      </p:sp>
      <p:sp>
        <p:nvSpPr>
          <p:cNvPr id="5" name="右箭头 4"/>
          <p:cNvSpPr/>
          <p:nvPr/>
        </p:nvSpPr>
        <p:spPr>
          <a:xfrm rot="6120000">
            <a:off x="3121660" y="3973195"/>
            <a:ext cx="2386965" cy="987425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168525" y="5513070"/>
            <a:ext cx="898715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800">
                <a:solidFill>
                  <a:schemeClr val="accent3">
                    <a:lumMod val="50000"/>
                  </a:schemeClr>
                </a:solidFill>
                <a:sym typeface="+mn-ea"/>
              </a:rPr>
              <a:t>#eval String.append "great " String.append</a:t>
            </a:r>
            <a:r>
              <a:rPr lang="zh-CN" altLang="en-US" sz="2800">
                <a:solidFill>
                  <a:srgbClr val="C00000"/>
                </a:solidFill>
                <a:sym typeface="+mn-ea"/>
              </a:rPr>
              <a:t> "oak " "tree"</a:t>
            </a:r>
            <a:r>
              <a:rPr lang="en-US" altLang="zh-CN" sz="2400">
                <a:solidFill>
                  <a:srgbClr val="C00000"/>
                </a:solidFill>
                <a:sym typeface="+mn-ea"/>
              </a:rPr>
              <a:t> </a:t>
            </a:r>
            <a:endParaRPr lang="en-US" altLang="zh-CN" sz="2400">
              <a:solidFill>
                <a:srgbClr val="C00000"/>
              </a:solidFill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514975" y="5134610"/>
            <a:ext cx="62064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000"/>
              <a:t>第二个 String.append 将被解释为第一个函数的参数</a:t>
            </a:r>
            <a:endParaRPr lang="zh-CN" altLang="en-US" sz="200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7" grpId="0"/>
      <p:bldP spid="6" grpId="0"/>
      <p:bldP spid="7" grpId="1"/>
      <p:bldP spid="6" grpId="1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数值类型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490345"/>
            <a:ext cx="3723640" cy="4759325"/>
          </a:xfrm>
        </p:spPr>
        <p:txBody>
          <a:bodyPr/>
          <a:p>
            <a:pPr marL="0" indent="0">
              <a:buNone/>
            </a:pPr>
            <a:r>
              <a:rPr lang="zh-CN" altLang="en-US"/>
              <a:t>#check 1.2</a:t>
            </a:r>
            <a:endParaRPr lang="zh-CN" altLang="en-US"/>
          </a:p>
          <a:p>
            <a:pPr marL="0" indent="0">
              <a:buNone/>
            </a:pPr>
            <a:r>
              <a:rPr lang="zh-CN" altLang="en-US" b="1"/>
              <a:t>输出：</a:t>
            </a:r>
            <a:r>
              <a:rPr lang="zh-CN" altLang="en-US" i="1"/>
              <a:t>1.2 : Float</a:t>
            </a:r>
            <a:endParaRPr lang="zh-CN" altLang="en-US" i="1"/>
          </a:p>
          <a:p>
            <a:pPr marL="0" indent="0">
              <a:buNone/>
            </a:pPr>
            <a:r>
              <a:rPr lang="zh-CN" altLang="en-US"/>
              <a:t>#check </a:t>
            </a:r>
            <a:r>
              <a:rPr lang="en-US" altLang="zh-CN"/>
              <a:t>0.0</a:t>
            </a:r>
            <a:endParaRPr lang="en-US" altLang="zh-CN"/>
          </a:p>
          <a:p>
            <a:pPr marL="0" indent="0">
              <a:buNone/>
            </a:pPr>
            <a:r>
              <a:rPr lang="zh-CN" altLang="en-US" b="1">
                <a:sym typeface="+mn-ea"/>
              </a:rPr>
              <a:t>输出：</a:t>
            </a:r>
            <a:r>
              <a:rPr lang="en-US" altLang="zh-CN" i="1">
                <a:sym typeface="+mn-ea"/>
              </a:rPr>
              <a:t>0.0</a:t>
            </a:r>
            <a:r>
              <a:rPr lang="zh-CN" altLang="en-US" i="1">
                <a:sym typeface="+mn-ea"/>
              </a:rPr>
              <a:t> : Float</a:t>
            </a:r>
            <a:endParaRPr lang="zh-CN" altLang="en-US" i="1"/>
          </a:p>
          <a:p>
            <a:pPr marL="0" indent="0">
              <a:buNone/>
            </a:pPr>
            <a:r>
              <a:rPr lang="zh-CN" altLang="en-US"/>
              <a:t>#check 0</a:t>
            </a:r>
            <a:endParaRPr lang="zh-CN" altLang="en-US"/>
          </a:p>
          <a:p>
            <a:pPr marL="0" indent="0">
              <a:buNone/>
            </a:pPr>
            <a:r>
              <a:rPr lang="zh-CN" altLang="en-US" b="1"/>
              <a:t>输出：</a:t>
            </a:r>
            <a:r>
              <a:rPr lang="zh-CN" altLang="en-US" i="1"/>
              <a:t>0 : Nat</a:t>
            </a:r>
            <a:endParaRPr lang="zh-CN" altLang="en-US" i="1"/>
          </a:p>
          <a:p>
            <a:pPr marL="0" indent="0">
              <a:buNone/>
            </a:pPr>
            <a:r>
              <a:rPr lang="zh-CN" altLang="en-US">
                <a:sym typeface="+mn-ea"/>
              </a:rPr>
              <a:t>#check (0 : Float)</a:t>
            </a:r>
            <a:endParaRPr lang="zh-CN" altLang="en-US">
              <a:sym typeface="+mn-ea"/>
            </a:endParaRPr>
          </a:p>
          <a:p>
            <a:pPr marL="0" indent="0">
              <a:buNone/>
            </a:pPr>
            <a:r>
              <a:rPr lang="zh-CN" altLang="en-US" b="1">
                <a:sym typeface="+mn-ea"/>
              </a:rPr>
              <a:t>输出：</a:t>
            </a:r>
            <a:r>
              <a:rPr lang="zh-CN" altLang="en-US" i="1">
                <a:sym typeface="+mn-ea"/>
              </a:rPr>
              <a:t>0 : Float</a:t>
            </a:r>
            <a:endParaRPr lang="zh-CN" altLang="en-US" i="1">
              <a:sym typeface="+mn-ea"/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4824730" y="1490345"/>
            <a:ext cx="3723640" cy="475932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/>
              <a:t>#eval 1 - 2</a:t>
            </a:r>
            <a:endParaRPr lang="zh-CN" altLang="en-US"/>
          </a:p>
          <a:p>
            <a:pPr marL="0" indent="0">
              <a:buNone/>
            </a:pPr>
            <a:r>
              <a:rPr lang="zh-CN" altLang="en-US" b="1"/>
              <a:t>输出：</a:t>
            </a:r>
            <a:r>
              <a:rPr lang="en-US" altLang="zh-CN" i="1"/>
              <a:t>0</a:t>
            </a:r>
            <a:endParaRPr lang="zh-CN" altLang="en-US" i="1"/>
          </a:p>
          <a:p>
            <a:pPr marL="0" indent="0">
              <a:buNone/>
            </a:pPr>
            <a:r>
              <a:t>#eval (1 - 2 : Int)</a:t>
            </a:r>
          </a:p>
          <a:p>
            <a:pPr marL="0" indent="0">
              <a:buNone/>
            </a:pPr>
            <a:r>
              <a:rPr lang="zh-CN" altLang="en-US" b="1">
                <a:sym typeface="+mn-ea"/>
              </a:rPr>
              <a:t>输出：</a:t>
            </a:r>
            <a:r>
              <a:rPr lang="en-US" i="1">
                <a:sym typeface="+mn-ea"/>
              </a:rPr>
              <a:t>-1</a:t>
            </a:r>
            <a:endParaRPr lang="zh-CN" altLang="en-US" i="1"/>
          </a:p>
          <a:p>
            <a:pPr marL="0" indent="0">
              <a:buNone/>
            </a:pPr>
            <a:r>
              <a:rPr lang="zh-CN" altLang="en-US"/>
              <a:t>#check (1 - 2 : Int)</a:t>
            </a:r>
            <a:endParaRPr lang="zh-CN" altLang="en-US"/>
          </a:p>
          <a:p>
            <a:pPr marL="0" indent="0">
              <a:buNone/>
            </a:pPr>
            <a:r>
              <a:rPr lang="zh-CN" altLang="en-US" b="1"/>
              <a:t>输出：</a:t>
            </a:r>
            <a:r>
              <a:rPr lang="zh-CN" altLang="en-US" i="1"/>
              <a:t>1 - 2 : Int</a:t>
            </a:r>
            <a:endParaRPr lang="zh-CN" altLang="en-US" i="1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定义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def hello := "Hello"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def lean : String := "Lean"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#eval String.append hello lean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zh-CN" altLang="en-US" b="1">
                <a:latin typeface="Consolas" panose="020B0609020204030204" charset="0"/>
                <a:cs typeface="Consolas" panose="020B0609020204030204" charset="0"/>
              </a:rPr>
              <a:t>输出：</a:t>
            </a:r>
            <a:r>
              <a:rPr lang="zh-CN" altLang="en-US" i="1">
                <a:latin typeface="Consolas" panose="020B0609020204030204" charset="0"/>
                <a:cs typeface="Consolas" panose="020B0609020204030204" charset="0"/>
              </a:rPr>
              <a:t>"Hello Lean"</a:t>
            </a:r>
            <a:endParaRPr lang="zh-CN" altLang="en-US" i="1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en-US" altLang="zh-CN">
                <a:latin typeface="Consolas" panose="020B0609020204030204" charset="0"/>
                <a:cs typeface="Consolas" panose="020B0609020204030204" charset="0"/>
              </a:rPr>
              <a:t>def a := 1</a:t>
            </a:r>
            <a:endParaRPr lang="en-US" altLang="zh-CN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en-US" altLang="zh-CN">
                <a:latin typeface="Consolas" panose="020B0609020204030204" charset="0"/>
                <a:cs typeface="Consolas" panose="020B0609020204030204" charset="0"/>
              </a:rPr>
              <a:t>def b : Nat := 2</a:t>
            </a:r>
            <a:endParaRPr lang="en-US" altLang="zh-CN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en-US" altLang="zh-CN">
                <a:latin typeface="Consolas" panose="020B0609020204030204" charset="0"/>
                <a:cs typeface="Consolas" panose="020B0609020204030204" charset="0"/>
              </a:rPr>
              <a:t>#eval a + b</a:t>
            </a:r>
            <a:endParaRPr lang="en-US" altLang="zh-CN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zh-CN" altLang="en-US" b="1">
                <a:latin typeface="Consolas" panose="020B0609020204030204" charset="0"/>
                <a:cs typeface="Consolas" panose="020B0609020204030204" charset="0"/>
                <a:sym typeface="+mn-ea"/>
              </a:rPr>
              <a:t>输出：</a:t>
            </a:r>
            <a:r>
              <a:rPr lang="en-US" altLang="zh-CN" i="1">
                <a:latin typeface="Consolas" panose="020B0609020204030204" charset="0"/>
                <a:cs typeface="Consolas" panose="020B0609020204030204" charset="0"/>
                <a:sym typeface="+mn-ea"/>
              </a:rPr>
              <a:t>3</a:t>
            </a:r>
            <a:endParaRPr lang="zh-CN" altLang="en-US" i="1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endParaRPr lang="en-US" altLang="zh-CN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endParaRPr lang="en-US" altLang="zh-CN">
              <a:latin typeface="Consolas" panose="020B0609020204030204" charset="0"/>
              <a:cs typeface="Consolas" panose="020B06090202040302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函数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def add1 (n : Nat) : Nat := n + 1</a:t>
            </a:r>
            <a:r>
              <a:rPr lang="en-US" altLang="zh-CN">
                <a:latin typeface="Consolas" panose="020B0609020204030204" charset="0"/>
                <a:cs typeface="Consolas" panose="020B0609020204030204" charset="0"/>
              </a:rPr>
              <a:t>                     --</a:t>
            </a: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单</a:t>
            </a: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个参数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#eval add1 7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zh-CN" altLang="en-US" b="1">
                <a:latin typeface="Consolas" panose="020B0609020204030204" charset="0"/>
                <a:cs typeface="Consolas" panose="020B0609020204030204" charset="0"/>
              </a:rPr>
              <a:t>输出：</a:t>
            </a:r>
            <a:r>
              <a:rPr lang="en-US" altLang="zh-CN" i="1">
                <a:latin typeface="Consolas" panose="020B0609020204030204" charset="0"/>
                <a:cs typeface="Consolas" panose="020B0609020204030204" charset="0"/>
              </a:rPr>
              <a:t>8</a:t>
            </a:r>
            <a:endParaRPr lang="en-US" altLang="zh-CN" i="1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en-US" altLang="zh-CN">
                <a:latin typeface="Consolas" panose="020B0609020204030204" charset="0"/>
                <a:cs typeface="Consolas" panose="020B0609020204030204" charset="0"/>
              </a:rPr>
              <a:t>def maximum (n : Nat) (k : Nat) : Nat :=              --</a:t>
            </a: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多个参数</a:t>
            </a: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（</a:t>
            </a:r>
            <a:r>
              <a:rPr lang="en-US" altLang="zh-CN">
                <a:latin typeface="Consolas" panose="020B0609020204030204" charset="0"/>
                <a:cs typeface="Consolas" panose="020B0609020204030204" charset="0"/>
              </a:rPr>
              <a:t>n k:Nat）</a:t>
            </a:r>
            <a:endParaRPr lang="en-US" altLang="zh-CN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en-US" altLang="zh-CN">
                <a:latin typeface="Consolas" panose="020B0609020204030204" charset="0"/>
                <a:cs typeface="Consolas" panose="020B0609020204030204" charset="0"/>
              </a:rPr>
              <a:t>  if n &lt; k then k else n</a:t>
            </a:r>
            <a:endParaRPr lang="en-US" altLang="zh-CN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  <a:sym typeface="+mn-ea"/>
              </a:rPr>
              <a:t>#eval</a:t>
            </a:r>
            <a:r>
              <a:rPr lang="en-US" altLang="zh-CN"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zh-CN">
                <a:latin typeface="Consolas" panose="020B0609020204030204" charset="0"/>
                <a:cs typeface="Consolas" panose="020B0609020204030204" charset="0"/>
              </a:rPr>
              <a:t>maximum (5 + 8) (2 * 7)</a:t>
            </a:r>
            <a:endParaRPr lang="en-US" altLang="zh-CN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zh-CN" altLang="en-US" b="1">
                <a:latin typeface="Consolas" panose="020B0609020204030204" charset="0"/>
                <a:cs typeface="Consolas" panose="020B0609020204030204" charset="0"/>
                <a:sym typeface="+mn-ea"/>
              </a:rPr>
              <a:t>输出：</a:t>
            </a:r>
            <a:r>
              <a:rPr lang="en-US" altLang="zh-CN" i="1">
                <a:latin typeface="Consolas" panose="020B0609020204030204" charset="0"/>
                <a:cs typeface="Consolas" panose="020B0609020204030204" charset="0"/>
                <a:sym typeface="+mn-ea"/>
              </a:rPr>
              <a:t>14</a:t>
            </a:r>
            <a:endParaRPr lang="en-US" altLang="zh-CN" i="1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endParaRPr lang="en-US" altLang="zh-CN">
              <a:latin typeface="Consolas" panose="020B0609020204030204" charset="0"/>
              <a:cs typeface="Consolas" panose="020B060902020403020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330" y="4968875"/>
            <a:ext cx="2962275" cy="15430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柯里化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490345"/>
            <a:ext cx="5455285" cy="4759325"/>
          </a:xfrm>
        </p:spPr>
        <p:txBody>
          <a:bodyPr/>
          <a:p>
            <a:pPr marL="0" indent="0">
              <a:buNone/>
            </a:pPr>
            <a:r>
              <a:rPr>
                <a:latin typeface="Consolas" panose="020B0609020204030204" charset="0"/>
                <a:cs typeface="Consolas" panose="020B0609020204030204" charset="0"/>
              </a:rPr>
              <a:t>#check add1</a:t>
            </a:r>
            <a:endParaRPr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zh-CN" altLang="en-US" b="1">
                <a:latin typeface="Consolas" panose="020B0609020204030204" charset="0"/>
                <a:cs typeface="Consolas" panose="020B0609020204030204" charset="0"/>
              </a:rPr>
              <a:t>输出：</a:t>
            </a:r>
            <a:r>
              <a:rPr lang="en-US" altLang="zh-CN" i="1">
                <a:latin typeface="Consolas" panose="020B0609020204030204" charset="0"/>
                <a:cs typeface="Consolas" panose="020B0609020204030204" charset="0"/>
              </a:rPr>
              <a:t>add1 (n : Nat) : Nat</a:t>
            </a:r>
            <a:endParaRPr lang="en-US" altLang="zh-CN" i="1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>
                <a:latin typeface="Consolas" panose="020B0609020204030204" charset="0"/>
                <a:cs typeface="Consolas" panose="020B0609020204030204" charset="0"/>
              </a:rPr>
              <a:t>#check (add1)</a:t>
            </a:r>
            <a:endParaRPr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zh-CN" altLang="en-US" b="1">
                <a:latin typeface="Consolas" panose="020B0609020204030204" charset="0"/>
                <a:cs typeface="Consolas" panose="020B0609020204030204" charset="0"/>
                <a:sym typeface="+mn-ea"/>
              </a:rPr>
              <a:t>输出：</a:t>
            </a:r>
            <a:r>
              <a:rPr lang="en-US" altLang="zh-CN" i="1">
                <a:latin typeface="Consolas" panose="020B0609020204030204" charset="0"/>
                <a:cs typeface="Consolas" panose="020B0609020204030204" charset="0"/>
                <a:sym typeface="+mn-ea"/>
              </a:rPr>
              <a:t>add1 : Nat → Nat</a:t>
            </a:r>
            <a:endParaRPr lang="en-US" altLang="zh-CN" i="1"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None/>
            </a:pPr>
            <a:r>
              <a:rPr lang="en-US" altLang="zh-CN">
                <a:latin typeface="Consolas" panose="020B0609020204030204" charset="0"/>
                <a:cs typeface="Consolas" panose="020B0609020204030204" charset="0"/>
                <a:sym typeface="+mn-ea"/>
              </a:rPr>
              <a:t>#check (maximum)</a:t>
            </a:r>
            <a:endParaRPr lang="en-US" altLang="zh-CN"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None/>
            </a:pPr>
            <a:r>
              <a:rPr lang="zh-CN" altLang="en-US" b="1">
                <a:latin typeface="Consolas" panose="020B0609020204030204" charset="0"/>
                <a:cs typeface="Consolas" panose="020B0609020204030204" charset="0"/>
                <a:sym typeface="+mn-ea"/>
              </a:rPr>
              <a:t>输出：</a:t>
            </a:r>
            <a:r>
              <a:rPr lang="en-US" altLang="zh-CN" i="1">
                <a:latin typeface="Consolas" panose="020B0609020204030204" charset="0"/>
                <a:cs typeface="Consolas" panose="020B0609020204030204" charset="0"/>
                <a:sym typeface="+mn-ea"/>
              </a:rPr>
              <a:t>maximum : Nat → Nat → Nat</a:t>
            </a:r>
            <a:endParaRPr lang="en-US" altLang="zh-CN" i="1"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None/>
            </a:pPr>
            <a:r>
              <a:rPr lang="en-US" altLang="zh-CN">
                <a:latin typeface="Consolas" panose="020B0609020204030204" charset="0"/>
                <a:cs typeface="Consolas" panose="020B0609020204030204" charset="0"/>
                <a:sym typeface="+mn-ea"/>
              </a:rPr>
              <a:t>#check maximum 3</a:t>
            </a:r>
            <a:endParaRPr lang="en-US" altLang="zh-CN"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None/>
            </a:pPr>
            <a:r>
              <a:rPr lang="zh-CN" altLang="en-US" b="1">
                <a:latin typeface="Consolas" panose="020B0609020204030204" charset="0"/>
                <a:cs typeface="Consolas" panose="020B0609020204030204" charset="0"/>
                <a:sym typeface="+mn-ea"/>
              </a:rPr>
              <a:t>输出：</a:t>
            </a:r>
            <a:r>
              <a:rPr lang="zh-CN" altLang="en-US" i="1">
                <a:latin typeface="Consolas" panose="020B0609020204030204" charset="0"/>
                <a:cs typeface="Consolas" panose="020B0609020204030204" charset="0"/>
                <a:sym typeface="+mn-ea"/>
              </a:rPr>
              <a:t>maximum 3 : Nat → Nat</a:t>
            </a:r>
            <a:endParaRPr lang="zh-CN" altLang="en-US" b="1"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None/>
            </a:pPr>
            <a:endParaRPr lang="en-US" altLang="zh-CN"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None/>
            </a:pPr>
            <a:endParaRPr lang="en-US" altLang="zh-CN">
              <a:latin typeface="Consolas" panose="020B0609020204030204" charset="0"/>
              <a:cs typeface="Consolas" panose="020B0609020204030204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887720" y="3455670"/>
            <a:ext cx="617601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zh-CN" altLang="en-US"/>
              <a:t>使用返回函数的函数来实现多参数函数被称为</a:t>
            </a:r>
            <a:r>
              <a:rPr lang="zh-CN" altLang="en-US" b="1"/>
              <a:t>柯里化（Currying）</a:t>
            </a:r>
            <a:r>
              <a:rPr lang="zh-CN" altLang="en-US"/>
              <a:t>，以数学家哈斯克尔·柯里（Haskell Curry）命名。函数箭头是右结合的，这意味着 </a:t>
            </a: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Nat → Nat → Nat </a:t>
            </a:r>
            <a:r>
              <a:rPr lang="zh-CN" altLang="en-US"/>
              <a:t>等价于 </a:t>
            </a: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Nat → (Nat → Nat)</a:t>
            </a:r>
            <a:r>
              <a:rPr lang="zh-CN" altLang="en-US"/>
              <a:t>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圆角矩形 30"/>
          <p:cNvSpPr/>
          <p:nvPr/>
        </p:nvSpPr>
        <p:spPr>
          <a:xfrm>
            <a:off x="5193665" y="2015490"/>
            <a:ext cx="6897370" cy="45910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圆角矩形 28"/>
          <p:cNvSpPr/>
          <p:nvPr/>
        </p:nvSpPr>
        <p:spPr>
          <a:xfrm>
            <a:off x="7820025" y="2258695"/>
            <a:ext cx="4156075" cy="416750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圆角矩形 25"/>
          <p:cNvSpPr/>
          <p:nvPr/>
        </p:nvSpPr>
        <p:spPr>
          <a:xfrm>
            <a:off x="10255885" y="2482850"/>
            <a:ext cx="1515745" cy="376682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柯里化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490345"/>
            <a:ext cx="5620385" cy="4759325"/>
          </a:xfrm>
        </p:spPr>
        <p:txBody>
          <a:bodyPr/>
          <a:p>
            <a:pPr marL="0" indent="0">
              <a:buNone/>
            </a:pPr>
            <a:r>
              <a:rPr lang="en-US" altLang="zh-CN">
                <a:latin typeface="Consolas" panose="020B0609020204030204" charset="0"/>
                <a:cs typeface="Consolas" panose="020B0609020204030204" charset="0"/>
                <a:sym typeface="+mn-ea"/>
              </a:rPr>
              <a:t>#check (p_and) --</a:t>
            </a:r>
            <a:r>
              <a:rPr lang="zh-CN" altLang="en-US">
                <a:latin typeface="Consolas" panose="020B0609020204030204" charset="0"/>
                <a:cs typeface="Consolas" panose="020B0609020204030204" charset="0"/>
                <a:sym typeface="+mn-ea"/>
              </a:rPr>
              <a:t>以一个与（</a:t>
            </a:r>
            <a:r>
              <a:rPr lang="en-US" altLang="zh-CN">
                <a:latin typeface="Consolas" panose="020B0609020204030204" charset="0"/>
                <a:cs typeface="Consolas" panose="020B0609020204030204" charset="0"/>
                <a:sym typeface="+mn-ea"/>
              </a:rPr>
              <a:t>AND</a:t>
            </a:r>
            <a:r>
              <a:rPr lang="zh-CN" altLang="en-US">
                <a:latin typeface="Consolas" panose="020B0609020204030204" charset="0"/>
                <a:cs typeface="Consolas" panose="020B0609020204030204" charset="0"/>
                <a:sym typeface="+mn-ea"/>
              </a:rPr>
              <a:t>）函数举例</a:t>
            </a:r>
            <a:endParaRPr lang="en-US" altLang="zh-CN"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None/>
            </a:pPr>
            <a:r>
              <a:rPr lang="zh-CN" altLang="en-US" b="1">
                <a:latin typeface="Consolas" panose="020B0609020204030204" charset="0"/>
                <a:cs typeface="Consolas" panose="020B0609020204030204" charset="0"/>
                <a:sym typeface="+mn-ea"/>
              </a:rPr>
              <a:t>输出：</a:t>
            </a:r>
            <a:r>
              <a:rPr lang="en-US" altLang="zh-CN" i="1">
                <a:latin typeface="Consolas" panose="020B0609020204030204" charset="0"/>
                <a:cs typeface="Consolas" panose="020B0609020204030204" charset="0"/>
                <a:sym typeface="+mn-ea"/>
              </a:rPr>
              <a:t>p_and : Bool → Bool → Bool</a:t>
            </a:r>
            <a:endParaRPr lang="en-US" altLang="zh-CN" i="1"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None/>
            </a:pPr>
            <a:r>
              <a:rPr lang="en-US" altLang="zh-CN">
                <a:latin typeface="Consolas" panose="020B0609020204030204" charset="0"/>
                <a:cs typeface="Consolas" panose="020B0609020204030204" charset="0"/>
                <a:sym typeface="+mn-ea"/>
              </a:rPr>
              <a:t>#check p_and true</a:t>
            </a:r>
            <a:endParaRPr lang="en-US" altLang="zh-CN"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None/>
            </a:pPr>
            <a:r>
              <a:rPr lang="zh-CN" altLang="en-US" b="1">
                <a:latin typeface="Consolas" panose="020B0609020204030204" charset="0"/>
                <a:cs typeface="Consolas" panose="020B0609020204030204" charset="0"/>
                <a:sym typeface="+mn-ea"/>
              </a:rPr>
              <a:t>输出：</a:t>
            </a:r>
            <a:r>
              <a:rPr lang="en-US" altLang="zh-CN" i="1">
                <a:latin typeface="Consolas" panose="020B0609020204030204" charset="0"/>
                <a:cs typeface="Consolas" panose="020B0609020204030204" charset="0"/>
                <a:sym typeface="+mn-ea"/>
              </a:rPr>
              <a:t>p_and</a:t>
            </a:r>
            <a:r>
              <a:rPr lang="zh-CN" altLang="en-US" i="1"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zh-CN" i="1">
                <a:latin typeface="Consolas" panose="020B0609020204030204" charset="0"/>
                <a:cs typeface="Consolas" panose="020B0609020204030204" charset="0"/>
                <a:sym typeface="+mn-ea"/>
              </a:rPr>
              <a:t>true</a:t>
            </a:r>
            <a:r>
              <a:rPr lang="zh-CN" altLang="en-US" i="1">
                <a:latin typeface="Consolas" panose="020B0609020204030204" charset="0"/>
                <a:cs typeface="Consolas" panose="020B0609020204030204" charset="0"/>
                <a:sym typeface="+mn-ea"/>
              </a:rPr>
              <a:t> : </a:t>
            </a:r>
            <a:r>
              <a:rPr lang="en-US" altLang="zh-CN" i="1">
                <a:latin typeface="Consolas" panose="020B0609020204030204" charset="0"/>
                <a:cs typeface="Consolas" panose="020B0609020204030204" charset="0"/>
                <a:sym typeface="+mn-ea"/>
              </a:rPr>
              <a:t>Bool</a:t>
            </a:r>
            <a:r>
              <a:rPr lang="zh-CN" altLang="en-US" i="1">
                <a:latin typeface="Consolas" panose="020B0609020204030204" charset="0"/>
                <a:cs typeface="Consolas" panose="020B0609020204030204" charset="0"/>
                <a:sym typeface="+mn-ea"/>
              </a:rPr>
              <a:t> → </a:t>
            </a:r>
            <a:r>
              <a:rPr lang="en-US" altLang="zh-CN" i="1">
                <a:latin typeface="Consolas" panose="020B0609020204030204" charset="0"/>
                <a:cs typeface="Consolas" panose="020B0609020204030204" charset="0"/>
                <a:sym typeface="+mn-ea"/>
              </a:rPr>
              <a:t>Bool</a:t>
            </a:r>
            <a:endParaRPr lang="zh-CN" altLang="en-US" b="1"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None/>
            </a:pPr>
            <a:endParaRPr lang="zh-CN" altLang="en-US"/>
          </a:p>
        </p:txBody>
      </p:sp>
      <p:grpSp>
        <p:nvGrpSpPr>
          <p:cNvPr id="24" name="组合 23"/>
          <p:cNvGrpSpPr/>
          <p:nvPr/>
        </p:nvGrpSpPr>
        <p:grpSpPr>
          <a:xfrm>
            <a:off x="5977255" y="2959100"/>
            <a:ext cx="5600065" cy="3109595"/>
            <a:chOff x="3719" y="5450"/>
            <a:chExt cx="8819" cy="4897"/>
          </a:xfrm>
        </p:grpSpPr>
        <p:sp>
          <p:nvSpPr>
            <p:cNvPr id="5" name="圆角矩形 4"/>
            <p:cNvSpPr/>
            <p:nvPr/>
          </p:nvSpPr>
          <p:spPr>
            <a:xfrm>
              <a:off x="3719" y="7401"/>
              <a:ext cx="2019" cy="98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  <a:latin typeface="Consolas" panose="020B0609020204030204" charset="0"/>
                  <a:cs typeface="Consolas" panose="020B0609020204030204" charset="0"/>
                  <a:sym typeface="+mn-ea"/>
                </a:rPr>
                <a:t>p_and</a:t>
              </a:r>
              <a:endParaRPr lang="en-US" altLang="zh-CN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  <a:sym typeface="+mn-ea"/>
              </a:endParaRPr>
            </a:p>
          </p:txBody>
        </p:sp>
        <p:cxnSp>
          <p:nvCxnSpPr>
            <p:cNvPr id="9" name="直接箭头连接符 8"/>
            <p:cNvCxnSpPr>
              <a:stCxn id="5" idx="3"/>
              <a:endCxn id="11" idx="1"/>
            </p:cNvCxnSpPr>
            <p:nvPr/>
          </p:nvCxnSpPr>
          <p:spPr>
            <a:xfrm flipV="1">
              <a:off x="5738" y="6910"/>
              <a:ext cx="1298" cy="982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箭头连接符 9"/>
            <p:cNvCxnSpPr>
              <a:endCxn id="12" idx="1"/>
            </p:cNvCxnSpPr>
            <p:nvPr/>
          </p:nvCxnSpPr>
          <p:spPr>
            <a:xfrm>
              <a:off x="5738" y="7891"/>
              <a:ext cx="1305" cy="983"/>
            </a:xfrm>
            <a:prstGeom prst="straightConnector1">
              <a:avLst/>
            </a:prstGeom>
            <a:ln>
              <a:solidFill>
                <a:schemeClr val="tx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圆角矩形 10"/>
            <p:cNvSpPr/>
            <p:nvPr/>
          </p:nvSpPr>
          <p:spPr>
            <a:xfrm>
              <a:off x="7036" y="6419"/>
              <a:ext cx="3195" cy="98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  <a:latin typeface="Consolas" panose="020B0609020204030204" charset="0"/>
                  <a:cs typeface="Consolas" panose="020B0609020204030204" charset="0"/>
                  <a:sym typeface="+mn-ea"/>
                </a:rPr>
                <a:t>p_and true</a:t>
              </a:r>
              <a:endParaRPr lang="en-US" altLang="zh-CN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  <a:sym typeface="+mn-ea"/>
              </a:endParaRPr>
            </a:p>
          </p:txBody>
        </p:sp>
        <p:sp>
          <p:nvSpPr>
            <p:cNvPr id="12" name="圆角矩形 11"/>
            <p:cNvSpPr/>
            <p:nvPr/>
          </p:nvSpPr>
          <p:spPr>
            <a:xfrm>
              <a:off x="7043" y="8383"/>
              <a:ext cx="3194" cy="98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  <a:latin typeface="Consolas" panose="020B0609020204030204" charset="0"/>
                  <a:cs typeface="Consolas" panose="020B0609020204030204" charset="0"/>
                  <a:sym typeface="+mn-ea"/>
                </a:rPr>
                <a:t>p_and false</a:t>
              </a:r>
              <a:endParaRPr lang="en-US" altLang="zh-CN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  <a:sym typeface="+mn-ea"/>
              </a:endParaRPr>
            </a:p>
          </p:txBody>
        </p:sp>
        <p:sp>
          <p:nvSpPr>
            <p:cNvPr id="16" name="圆角矩形 15"/>
            <p:cNvSpPr/>
            <p:nvPr/>
          </p:nvSpPr>
          <p:spPr>
            <a:xfrm>
              <a:off x="10764" y="5450"/>
              <a:ext cx="1774" cy="98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  <a:latin typeface="Consolas" panose="020B0609020204030204" charset="0"/>
                  <a:cs typeface="Consolas" panose="020B0609020204030204" charset="0"/>
                  <a:sym typeface="+mn-ea"/>
                </a:rPr>
                <a:t>true</a:t>
              </a:r>
              <a:endParaRPr lang="en-US" altLang="zh-CN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  <a:sym typeface="+mn-ea"/>
              </a:endParaRPr>
            </a:p>
          </p:txBody>
        </p:sp>
        <p:sp>
          <p:nvSpPr>
            <p:cNvPr id="17" name="圆角矩形 16"/>
            <p:cNvSpPr/>
            <p:nvPr/>
          </p:nvSpPr>
          <p:spPr>
            <a:xfrm>
              <a:off x="10764" y="6755"/>
              <a:ext cx="1774" cy="98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  <a:latin typeface="Consolas" panose="020B0609020204030204" charset="0"/>
                  <a:cs typeface="Consolas" panose="020B0609020204030204" charset="0"/>
                  <a:sym typeface="+mn-ea"/>
                </a:rPr>
                <a:t>true</a:t>
              </a:r>
              <a:endParaRPr lang="en-US" altLang="zh-CN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  <a:sym typeface="+mn-ea"/>
              </a:endParaRPr>
            </a:p>
          </p:txBody>
        </p:sp>
        <p:sp>
          <p:nvSpPr>
            <p:cNvPr id="18" name="圆角矩形 17"/>
            <p:cNvSpPr/>
            <p:nvPr/>
          </p:nvSpPr>
          <p:spPr>
            <a:xfrm>
              <a:off x="10764" y="8060"/>
              <a:ext cx="1774" cy="98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  <a:latin typeface="Consolas" panose="020B0609020204030204" charset="0"/>
                  <a:cs typeface="Consolas" panose="020B0609020204030204" charset="0"/>
                  <a:sym typeface="+mn-ea"/>
                </a:rPr>
                <a:t>true</a:t>
              </a:r>
              <a:endParaRPr lang="en-US" altLang="zh-CN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  <a:sym typeface="+mn-ea"/>
              </a:endParaRPr>
            </a:p>
          </p:txBody>
        </p:sp>
        <p:sp>
          <p:nvSpPr>
            <p:cNvPr id="19" name="圆角矩形 18"/>
            <p:cNvSpPr/>
            <p:nvPr/>
          </p:nvSpPr>
          <p:spPr>
            <a:xfrm>
              <a:off x="10764" y="9365"/>
              <a:ext cx="1774" cy="98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  <a:latin typeface="Consolas" panose="020B0609020204030204" charset="0"/>
                  <a:cs typeface="Consolas" panose="020B0609020204030204" charset="0"/>
                  <a:sym typeface="+mn-ea"/>
                </a:rPr>
                <a:t>false</a:t>
              </a:r>
              <a:endParaRPr lang="en-US" altLang="zh-CN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  <a:sym typeface="+mn-ea"/>
              </a:endParaRPr>
            </a:p>
          </p:txBody>
        </p:sp>
        <p:cxnSp>
          <p:nvCxnSpPr>
            <p:cNvPr id="20" name="直接箭头连接符 19"/>
            <p:cNvCxnSpPr>
              <a:endCxn id="16" idx="1"/>
            </p:cNvCxnSpPr>
            <p:nvPr/>
          </p:nvCxnSpPr>
          <p:spPr>
            <a:xfrm flipV="1">
              <a:off x="10231" y="5941"/>
              <a:ext cx="533" cy="969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>
              <a:stCxn id="11" idx="3"/>
              <a:endCxn id="17" idx="1"/>
            </p:cNvCxnSpPr>
            <p:nvPr/>
          </p:nvCxnSpPr>
          <p:spPr>
            <a:xfrm>
              <a:off x="10231" y="6910"/>
              <a:ext cx="533" cy="336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>
              <a:stCxn id="12" idx="3"/>
              <a:endCxn id="18" idx="1"/>
            </p:cNvCxnSpPr>
            <p:nvPr/>
          </p:nvCxnSpPr>
          <p:spPr>
            <a:xfrm flipV="1">
              <a:off x="10237" y="8551"/>
              <a:ext cx="527" cy="323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>
              <a:stCxn id="12" idx="3"/>
              <a:endCxn id="19" idx="1"/>
            </p:cNvCxnSpPr>
            <p:nvPr/>
          </p:nvCxnSpPr>
          <p:spPr>
            <a:xfrm>
              <a:off x="10237" y="8874"/>
              <a:ext cx="527" cy="982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文本框 27"/>
          <p:cNvSpPr txBox="1"/>
          <p:nvPr/>
        </p:nvSpPr>
        <p:spPr>
          <a:xfrm>
            <a:off x="10670540" y="2526030"/>
            <a:ext cx="68580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i="1">
                <a:latin typeface="Consolas" panose="020B0609020204030204" charset="0"/>
                <a:cs typeface="Consolas" panose="020B0609020204030204" charset="0"/>
                <a:sym typeface="+mn-ea"/>
              </a:rPr>
              <a:t>Bool</a:t>
            </a:r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8319135" y="2526030"/>
            <a:ext cx="156591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i="1">
                <a:latin typeface="Consolas" panose="020B0609020204030204" charset="0"/>
                <a:cs typeface="Consolas" panose="020B0609020204030204" charset="0"/>
                <a:sym typeface="+mn-ea"/>
              </a:rPr>
              <a:t>Bool</a:t>
            </a:r>
            <a:r>
              <a:rPr lang="zh-CN" altLang="en-US" i="1">
                <a:latin typeface="Consolas" panose="020B0609020204030204" charset="0"/>
                <a:cs typeface="Consolas" panose="020B0609020204030204" charset="0"/>
                <a:sym typeface="+mn-ea"/>
              </a:rPr>
              <a:t> → </a:t>
            </a:r>
            <a:r>
              <a:rPr lang="en-US" altLang="zh-CN" i="1">
                <a:latin typeface="Consolas" panose="020B0609020204030204" charset="0"/>
                <a:cs typeface="Consolas" panose="020B0609020204030204" charset="0"/>
                <a:sym typeface="+mn-ea"/>
              </a:rPr>
              <a:t>Bool</a:t>
            </a:r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5502275" y="2258695"/>
            <a:ext cx="244602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i="1">
                <a:latin typeface="Consolas" panose="020B0609020204030204" charset="0"/>
                <a:cs typeface="Consolas" panose="020B0609020204030204" charset="0"/>
                <a:sym typeface="+mn-ea"/>
              </a:rPr>
              <a:t>Bool → Bool → Bool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归纳类型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490345"/>
            <a:ext cx="5278120" cy="4759325"/>
          </a:xfrm>
        </p:spPr>
        <p:txBody>
          <a:bodyPr/>
          <a:p>
            <a:pPr marL="0" indent="0"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语法：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inductive 归纳类型名 : Type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| 构造器1 : 类型1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| 构造器2 : 类型2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...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| 构造器N : 类型N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5886450" y="1490345"/>
            <a:ext cx="5278120" cy="475932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以自然数的递归构造为例子：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inductive MyNat : Type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| zero : MyNat    -- 自然数 0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| succ : MyNat → MyNat  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en-US" altLang="zh-CN">
                <a:latin typeface="Consolas" panose="020B0609020204030204" charset="0"/>
                <a:cs typeface="Consolas" panose="020B0609020204030204" charset="0"/>
              </a:rPr>
              <a:t>  </a:t>
            </a: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-- 继承前一个自然数（n + 1）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归纳类型</a:t>
            </a:r>
            <a:endParaRPr lang="zh-CN" altLang="en-US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08330" y="1499235"/>
            <a:ext cx="5278120" cy="475932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inductive MyNat : Type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| zero : MyNat    -- 自然数 0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| succ : MyNat → MyNat</a:t>
            </a:r>
            <a:r>
              <a:rPr lang="zh-CN" altLang="en-US"/>
              <a:t>  </a:t>
            </a:r>
            <a:endParaRPr lang="zh-CN" altLang="en-US"/>
          </a:p>
          <a:p>
            <a:pPr marL="0" indent="0">
              <a:buNone/>
            </a:pPr>
            <a:r>
              <a:rPr lang="en-US" altLang="zh-CN">
                <a:latin typeface="Consolas" panose="020B0609020204030204" charset="0"/>
                <a:cs typeface="Consolas" panose="020B0609020204030204" charset="0"/>
              </a:rPr>
              <a:t>  </a:t>
            </a: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-- 将</a:t>
            </a:r>
            <a:r>
              <a:rPr lang="en-US" altLang="zh-CN">
                <a:latin typeface="Consolas" panose="020B0609020204030204" charset="0"/>
                <a:cs typeface="Consolas" panose="020B0609020204030204" charset="0"/>
              </a:rPr>
              <a:t>n+1</a:t>
            </a: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表示为</a:t>
            </a:r>
            <a:r>
              <a:rPr lang="en-US" altLang="zh-CN">
                <a:latin typeface="Consolas" panose="020B0609020204030204" charset="0"/>
                <a:cs typeface="Consolas" panose="020B0609020204030204" charset="0"/>
              </a:rPr>
              <a:t>n</a:t>
            </a: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的后继即</a:t>
            </a:r>
            <a:r>
              <a:rPr lang="en-US" altLang="zh-CN">
                <a:latin typeface="Consolas" panose="020B0609020204030204" charset="0"/>
                <a:cs typeface="Consolas" panose="020B0609020204030204" charset="0"/>
              </a:rPr>
              <a:t>succ(n)=n+1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8330" y="3855720"/>
            <a:ext cx="4876800" cy="24028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None/>
            </a:pP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open MyNat  -- 方便使用构造器</a:t>
            </a:r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Consolas" panose="020B0609020204030204" charset="0"/>
              <a:cs typeface="Consolas" panose="020B0609020204030204" charset="0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None/>
            </a:pP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#check zero       -- 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表示 0</a:t>
            </a:r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Consolas" panose="020B0609020204030204" charset="0"/>
              <a:cs typeface="Consolas" panose="020B0609020204030204" charset="0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None/>
            </a:pP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#check succ zero  -- 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表示 1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 </a:t>
            </a:r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Consolas" panose="020B0609020204030204" charset="0"/>
              <a:cs typeface="Consolas" panose="020B0609020204030204" charset="0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None/>
            </a:pP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#check succ (succ zero) -- 表示 2</a:t>
            </a:r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Consolas" panose="020B0609020204030204" charset="0"/>
              <a:cs typeface="Consolas" panose="020B0609020204030204" charset="0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None/>
            </a:pP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--以上三行皆输出MyNat</a:t>
            </a:r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35040" y="1499235"/>
            <a:ext cx="6099810" cy="36099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None/>
            </a:pP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def add (a b : MyNat) : MyNat :=</a:t>
            </a:r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Consolas" panose="020B0609020204030204" charset="0"/>
              <a:cs typeface="Consolas" panose="020B0609020204030204" charset="0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None/>
            </a:pP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  match a with</a:t>
            </a:r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Consolas" panose="020B0609020204030204" charset="0"/>
              <a:cs typeface="Consolas" panose="020B0609020204030204" charset="0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None/>
            </a:pP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  | MyNat.zero =&gt; b --如果a为zero则直接返回b的值</a:t>
            </a:r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Consolas" panose="020B0609020204030204" charset="0"/>
              <a:cs typeface="Consolas" panose="020B0609020204030204" charset="0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None/>
            </a:pP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  | MyNat.succ n =&gt; MyNat.succ (add n b)</a:t>
            </a:r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Consolas" panose="020B0609020204030204" charset="0"/>
              <a:cs typeface="Consolas" panose="020B0609020204030204" charset="0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None/>
            </a:pPr>
            <a:r>
              <a:rPr lang="en-US" altLang="zh-CN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</a:rPr>
              <a:t> </a:t>
            </a:r>
            <a:r>
              <a:rPr lang="en-US" altLang="zh-CN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 --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如果</a:t>
            </a:r>
            <a:r>
              <a:rPr lang="en-US" altLang="zh-CN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a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可以表示为</a:t>
            </a:r>
            <a:r>
              <a:rPr lang="en-US" altLang="zh-CN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succ(n),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那么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add (a b : MyNat)则可以表示为succ (add n b)</a:t>
            </a:r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None/>
            </a:pPr>
            <a:r>
              <a:rPr lang="en-US" altLang="zh-CN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  --a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是</a:t>
            </a:r>
            <a:r>
              <a:rPr lang="en-US" altLang="zh-CN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n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的后继，可以把</a:t>
            </a:r>
            <a:r>
              <a:rPr lang="en-US" altLang="zh-CN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n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当作</a:t>
            </a:r>
            <a:r>
              <a:rPr lang="en-US" altLang="zh-CN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a-1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代入上式便于理解</a:t>
            </a:r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35040" y="730250"/>
            <a:ext cx="561022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3200" b="1">
                <a:solidFill>
                  <a:srgbClr val="FF0000"/>
                </a:solidFill>
              </a:rPr>
              <a:t>!</a:t>
            </a:r>
            <a:r>
              <a:rPr lang="zh-CN" altLang="en-US" sz="2000"/>
              <a:t>在归纳类型相关的函数中</a:t>
            </a:r>
            <a:r>
              <a:rPr lang="en-US" altLang="zh-CN" sz="2000"/>
              <a:t>“=&gt;”</a:t>
            </a:r>
            <a:r>
              <a:rPr lang="zh-CN" altLang="en-US" sz="2000"/>
              <a:t>表示函数返回的值</a:t>
            </a:r>
            <a:endParaRPr lang="zh-CN" altLang="en-US" sz="2000"/>
          </a:p>
        </p:txBody>
      </p:sp>
      <p:sp>
        <p:nvSpPr>
          <p:cNvPr id="9" name="文本框 8"/>
          <p:cNvSpPr txBox="1"/>
          <p:nvPr/>
        </p:nvSpPr>
        <p:spPr>
          <a:xfrm>
            <a:off x="6125845" y="5558155"/>
            <a:ext cx="570357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b="1">
                <a:latin typeface="Consolas" panose="020B0609020204030204" charset="0"/>
                <a:cs typeface="Consolas" panose="020B0609020204030204" charset="0"/>
              </a:rPr>
              <a:t>思考题：手算#eval add (succ zero) (succ zero)</a:t>
            </a:r>
            <a:endParaRPr lang="zh-CN" altLang="en-US" b="1"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zh-CN" altLang="en-US" b="1">
                <a:latin typeface="Consolas" panose="020B0609020204030204" charset="0"/>
                <a:cs typeface="Consolas" panose="020B0609020204030204" charset="0"/>
              </a:rPr>
              <a:t>并转换为正常的自然数加法</a:t>
            </a:r>
            <a:endParaRPr lang="zh-CN" altLang="en-US" b="1">
              <a:latin typeface="Consolas" panose="020B0609020204030204" charset="0"/>
              <a:cs typeface="Consolas" panose="020B06090202040302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再战</a:t>
            </a:r>
            <a:r>
              <a:rPr lang="en-US" altLang="zh-CN"/>
              <a:t>WFF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490345"/>
            <a:ext cx="11583035" cy="4759325"/>
          </a:xfrm>
        </p:spPr>
        <p:txBody>
          <a:bodyPr>
            <a:normAutofit lnSpcReduction="10000"/>
          </a:bodyPr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inductive WFF : Type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-- Base case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| p_atm : String → WFF</a:t>
            </a:r>
            <a:r>
              <a:rPr lang="en-US" altLang="zh-CN">
                <a:latin typeface="Consolas" panose="020B0609020204030204" charset="0"/>
                <a:cs typeface="Consolas" panose="020B0609020204030204" charset="0"/>
              </a:rPr>
              <a:t>          --”A1”</a:t>
            </a: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只是一个字符串，而</a:t>
            </a:r>
            <a:r>
              <a:rPr lang="en-US" altLang="zh-CN">
                <a:latin typeface="Consolas" panose="020B0609020204030204" charset="0"/>
                <a:cs typeface="Consolas" panose="020B0609020204030204" charset="0"/>
              </a:rPr>
              <a:t>p_atm </a:t>
            </a:r>
            <a:r>
              <a:rPr lang="en-US" altLang="zh-CN">
                <a:latin typeface="Consolas" panose="020B0609020204030204" charset="0"/>
                <a:cs typeface="Consolas" panose="020B0609020204030204" charset="0"/>
                <a:sym typeface="+mn-ea"/>
              </a:rPr>
              <a:t>”A1”</a:t>
            </a: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就是原子命题了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-- Induction steps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| p_not : WFF → WFF</a:t>
            </a:r>
            <a:r>
              <a:rPr lang="en-US" altLang="zh-CN">
                <a:latin typeface="Consolas" panose="020B0609020204030204" charset="0"/>
                <a:cs typeface="Consolas" panose="020B0609020204030204" charset="0"/>
              </a:rPr>
              <a:t>             --p_not p_atm(“A1”)</a:t>
            </a: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表示</a:t>
            </a:r>
            <a:r>
              <a:rPr lang="en-US" altLang="zh-CN">
                <a:latin typeface="Consolas" panose="020B0609020204030204" charset="0"/>
                <a:cs typeface="Consolas" panose="020B0609020204030204" charset="0"/>
              </a:rPr>
              <a:t>A1</a:t>
            </a: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的取反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| p_and : WFF → WFF → WFF</a:t>
            </a:r>
            <a:r>
              <a:rPr lang="en-US" altLang="zh-CN">
                <a:latin typeface="Consolas" panose="020B0609020204030204" charset="0"/>
                <a:cs typeface="Consolas" panose="020B0609020204030204" charset="0"/>
              </a:rPr>
              <a:t>       </a:t>
            </a:r>
            <a:r>
              <a:rPr lang="en-US" altLang="zh-CN">
                <a:latin typeface="Consolas" panose="020B0609020204030204" charset="0"/>
                <a:cs typeface="Consolas" panose="020B0609020204030204" charset="0"/>
                <a:sym typeface="+mn-ea"/>
              </a:rPr>
              <a:t>--p_and p_atm(“A1”) </a:t>
            </a:r>
            <a:r>
              <a:rPr lang="en-US" altLang="zh-CN">
                <a:latin typeface="Consolas" panose="020B0609020204030204" charset="0"/>
                <a:cs typeface="Consolas" panose="020B0609020204030204" charset="0"/>
                <a:sym typeface="+mn-ea"/>
              </a:rPr>
              <a:t>p_atm(“A2”)</a:t>
            </a:r>
            <a:r>
              <a:rPr lang="zh-CN" altLang="en-US">
                <a:latin typeface="Consolas" panose="020B0609020204030204" charset="0"/>
                <a:cs typeface="Consolas" panose="020B0609020204030204" charset="0"/>
                <a:sym typeface="+mn-ea"/>
              </a:rPr>
              <a:t>表示</a:t>
            </a:r>
            <a:r>
              <a:rPr lang="en-US" altLang="zh-CN">
                <a:latin typeface="Consolas" panose="020B0609020204030204" charset="0"/>
                <a:cs typeface="Consolas" panose="020B0609020204030204" charset="0"/>
                <a:sym typeface="+mn-ea"/>
              </a:rPr>
              <a:t>A1&amp;&amp;A2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| p_or  : WFF → WFF → WFF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| p_imp : WFF → WFF → WFF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| p_iff : WFF → WFF → WFF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330" y="608330"/>
            <a:ext cx="2209165" cy="705485"/>
          </a:xfrm>
        </p:spPr>
        <p:txBody>
          <a:bodyPr>
            <a:normAutofit fontScale="90000"/>
          </a:bodyPr>
          <a:p>
            <a:r>
              <a:rPr lang="zh-CN" altLang="en-US"/>
              <a:t>再战</a:t>
            </a:r>
            <a:r>
              <a:rPr lang="en-US" altLang="zh-CN"/>
              <a:t>WFF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0335" y="2600325"/>
            <a:ext cx="11247755" cy="4759325"/>
          </a:xfrm>
        </p:spPr>
        <p:txBody>
          <a:bodyPr>
            <a:normAutofit lnSpcReduction="10000"/>
          </a:bodyPr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def WFF_to_String : WFF → String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-- Base case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| p_atm s   =&gt; s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-- Induction steps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| p_not φ   =&gt; "(¬" ++ WFF_to_String φ ++  ")"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| p_and φ ψ =&gt; "(" ++ WFF_to_String φ ++ " ∧ " ++ WFF_to_String ψ ++ ")"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| p_or  φ ψ =&gt; "(" ++ WFF_to_String φ ++ " ∨ " ++ WFF_to_String ψ ++ ")"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| p_imp φ ψ =&gt; "(" ++ WFF_to_String φ ++ " → " ++ WFF_to_String ψ ++ ")"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| p_iff φ ψ =&gt; "(" ++ WFF_to_String φ ++ " ↔ " ++ WFF_to_String ψ ++ ")"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989320" y="152400"/>
            <a:ext cx="531114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def complex_WFF : WFF :=</a:t>
            </a:r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  p_imp (p_and A₁ (p_not A₂)) A₃</a:t>
            </a:r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手撕#eval 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WFF_to_String 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complex_WFF</a:t>
            </a:r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Consolas" panose="020B0609020204030204" charset="0"/>
              <a:cs typeface="Consolas" panose="020B06090202040302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330" y="608330"/>
            <a:ext cx="2209165" cy="705485"/>
          </a:xfrm>
        </p:spPr>
        <p:txBody>
          <a:bodyPr>
            <a:normAutofit fontScale="90000"/>
          </a:bodyPr>
          <a:p>
            <a:r>
              <a:rPr lang="zh-CN" altLang="en-US"/>
              <a:t>再战</a:t>
            </a:r>
            <a:r>
              <a:rPr lang="en-US" altLang="zh-CN"/>
              <a:t>WFF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0335" y="2600325"/>
            <a:ext cx="11247755" cy="4759325"/>
          </a:xfrm>
        </p:spPr>
        <p:txBody>
          <a:bodyPr>
            <a:normAutofit lnSpcReduction="10000"/>
          </a:bodyPr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def WFF_to_String : WFF → String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-- Base case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| p_atm s   =&gt; s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-- Induction steps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| p_not φ   =&gt; "(¬" ++ WFF_to_String φ ++  ")"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| p_and φ ψ =&gt; "(" ++ WFF_to_String φ ++ " ∧ " ++ WFF_to_String ψ ++ ")"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| p_or  φ ψ =&gt; "(" ++ WFF_to_String φ ++ " ∨ " ++ WFF_to_String ψ ++ ")"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</a:t>
            </a:r>
            <a:r>
              <a:rPr lang="zh-CN" altLang="en-US" b="1">
                <a:latin typeface="Consolas" panose="020B0609020204030204" charset="0"/>
                <a:cs typeface="Consolas" panose="020B0609020204030204" charset="0"/>
              </a:rPr>
              <a:t>| </a:t>
            </a:r>
            <a:r>
              <a:rPr lang="zh-CN" altLang="en-US" b="1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p_imp</a:t>
            </a:r>
            <a:r>
              <a:rPr lang="zh-CN" altLang="en-US" b="1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zh-CN" altLang="en-US" b="1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φ</a:t>
            </a:r>
            <a:r>
              <a:rPr lang="zh-CN" altLang="en-US" b="1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zh-CN" altLang="en-US" b="1">
                <a:solidFill>
                  <a:srgbClr val="00B050"/>
                </a:solidFill>
                <a:latin typeface="Consolas" panose="020B0609020204030204" charset="0"/>
                <a:cs typeface="Consolas" panose="020B0609020204030204" charset="0"/>
              </a:rPr>
              <a:t>ψ</a:t>
            </a:r>
            <a:r>
              <a:rPr lang="zh-CN" altLang="en-US" b="1">
                <a:latin typeface="Consolas" panose="020B0609020204030204" charset="0"/>
                <a:cs typeface="Consolas" panose="020B0609020204030204" charset="0"/>
              </a:rPr>
              <a:t> =&gt; "(" ++ WFF_to_String </a:t>
            </a:r>
            <a:r>
              <a:rPr lang="zh-CN" altLang="en-US" b="1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φ</a:t>
            </a:r>
            <a:r>
              <a:rPr lang="zh-CN" altLang="en-US" b="1">
                <a:latin typeface="Consolas" panose="020B0609020204030204" charset="0"/>
                <a:cs typeface="Consolas" panose="020B0609020204030204" charset="0"/>
              </a:rPr>
              <a:t> ++ " → " ++ WFF_to_String </a:t>
            </a:r>
            <a:r>
              <a:rPr lang="zh-CN" altLang="en-US" b="1">
                <a:solidFill>
                  <a:srgbClr val="00B050"/>
                </a:solidFill>
                <a:latin typeface="Consolas" panose="020B0609020204030204" charset="0"/>
                <a:cs typeface="Consolas" panose="020B0609020204030204" charset="0"/>
              </a:rPr>
              <a:t>ψ</a:t>
            </a:r>
            <a:r>
              <a:rPr lang="zh-CN" altLang="en-US" b="1">
                <a:latin typeface="Consolas" panose="020B0609020204030204" charset="0"/>
                <a:cs typeface="Consolas" panose="020B0609020204030204" charset="0"/>
              </a:rPr>
              <a:t> ++ ")"</a:t>
            </a:r>
            <a:endParaRPr lang="zh-CN" altLang="en-US" b="1">
              <a:latin typeface="Consolas" panose="020B0609020204030204" charset="0"/>
              <a:cs typeface="Consolas" panose="020B0609020204030204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| p_iff φ ψ =&gt; "(" ++ WFF_to_String φ ++ " ↔ " ++ WFF_to_String ψ ++ ")"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552950" y="0"/>
            <a:ext cx="7638415" cy="1476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p>
            <a:pPr algn="l"/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def complex_WFF : WFF :=</a:t>
            </a:r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  </a:t>
            </a:r>
            <a:r>
              <a:rPr lang="zh-CN" altLang="en-US" b="1" spc="150">
                <a:solidFill>
                  <a:srgbClr val="7030A0"/>
                </a:solidFill>
                <a:uFillTx/>
                <a:latin typeface="Consolas" panose="020B0609020204030204" charset="0"/>
                <a:cs typeface="Consolas" panose="020B0609020204030204" charset="0"/>
              </a:rPr>
              <a:t>p_imp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zh-CN" altLang="en-US" b="1" spc="150">
                <a:solidFill>
                  <a:srgbClr val="0070C0"/>
                </a:solidFill>
                <a:uFillTx/>
                <a:latin typeface="Consolas" panose="020B0609020204030204" charset="0"/>
                <a:cs typeface="Consolas" panose="020B0609020204030204" charset="0"/>
              </a:rPr>
              <a:t>(p_and A₁ (p_not A₂))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zh-CN" altLang="en-US" b="1" spc="150">
                <a:solidFill>
                  <a:srgbClr val="00B050"/>
                </a:solidFill>
                <a:uFillTx/>
                <a:latin typeface="Consolas" panose="020B0609020204030204" charset="0"/>
                <a:cs typeface="Consolas" panose="020B0609020204030204" charset="0"/>
              </a:rPr>
              <a:t>A₃</a:t>
            </a:r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手撕#eval 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WFF_to_String 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complex_WFF</a:t>
            </a:r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algn="l"/>
            <a:r>
              <a:rPr lang="en-US" altLang="zh-CN" spc="150">
                <a:solidFill>
                  <a:schemeClr val="tx1"/>
                </a:solidFill>
                <a:uFillTx/>
                <a:latin typeface="Consolas" panose="020B0609020204030204" charset="0"/>
                <a:cs typeface="Consolas" panose="020B0609020204030204" charset="0"/>
              </a:rPr>
              <a:t>=&gt;</a:t>
            </a:r>
            <a:r>
              <a:rPr lang="zh-CN" altLang="en-US">
                <a:latin typeface="Consolas" panose="020B0609020204030204" charset="0"/>
                <a:cs typeface="Consolas" panose="020B0609020204030204" charset="0"/>
                <a:sym typeface="+mn-ea"/>
              </a:rPr>
              <a:t>"(" ++ WFF_to_String </a:t>
            </a:r>
            <a:r>
              <a:rPr lang="zh-CN" altLang="en-US" b="1" spc="150">
                <a:solidFill>
                  <a:srgbClr val="0070C0"/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p_and A₁ (p_not A₂)</a:t>
            </a:r>
            <a:r>
              <a:rPr lang="zh-CN" altLang="en-US">
                <a:latin typeface="Consolas" panose="020B0609020204030204" charset="0"/>
                <a:cs typeface="Consolas" panose="020B0609020204030204" charset="0"/>
                <a:sym typeface="+mn-ea"/>
              </a:rPr>
              <a:t> ++ " → " ++ WFF_to_String </a:t>
            </a:r>
            <a:r>
              <a:rPr lang="zh-CN" altLang="en-US" b="1" spc="150">
                <a:solidFill>
                  <a:srgbClr val="00B050"/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A₃</a:t>
            </a:r>
            <a:r>
              <a:rPr lang="zh-CN" altLang="en-US">
                <a:latin typeface="Consolas" panose="020B0609020204030204" charset="0"/>
                <a:cs typeface="Consolas" panose="020B0609020204030204" charset="0"/>
                <a:sym typeface="+mn-ea"/>
              </a:rPr>
              <a:t> ++ ")"</a:t>
            </a:r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Consolas" panose="020B0609020204030204" charset="0"/>
              <a:cs typeface="Consolas" panose="020B06090202040302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330" y="608330"/>
            <a:ext cx="2209165" cy="705485"/>
          </a:xfrm>
        </p:spPr>
        <p:txBody>
          <a:bodyPr>
            <a:normAutofit fontScale="90000"/>
          </a:bodyPr>
          <a:p>
            <a:r>
              <a:rPr lang="zh-CN" altLang="en-US"/>
              <a:t>再战</a:t>
            </a:r>
            <a:r>
              <a:rPr lang="en-US" altLang="zh-CN"/>
              <a:t>WFF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0335" y="2600325"/>
            <a:ext cx="11247755" cy="4759325"/>
          </a:xfrm>
        </p:spPr>
        <p:txBody>
          <a:bodyPr>
            <a:normAutofit lnSpcReduction="10000"/>
          </a:bodyPr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def WFF_to_String : WFF → String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-- Base case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zh-CN" altLang="en-US" b="1">
                <a:latin typeface="Consolas" panose="020B0609020204030204" charset="0"/>
                <a:cs typeface="Consolas" panose="020B0609020204030204" charset="0"/>
              </a:rPr>
              <a:t> | </a:t>
            </a:r>
            <a:r>
              <a:rPr lang="zh-CN" altLang="en-US" b="1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p_atm s</a:t>
            </a:r>
            <a:r>
              <a:rPr lang="zh-CN" altLang="en-US" b="1">
                <a:latin typeface="Consolas" panose="020B0609020204030204" charset="0"/>
                <a:cs typeface="Consolas" panose="020B0609020204030204" charset="0"/>
              </a:rPr>
              <a:t>   =&gt; </a:t>
            </a:r>
            <a:r>
              <a:rPr lang="zh-CN" altLang="en-US" b="1">
                <a:solidFill>
                  <a:schemeClr val="accent6"/>
                </a:solidFill>
                <a:latin typeface="Consolas" panose="020B0609020204030204" charset="0"/>
                <a:cs typeface="Consolas" panose="020B0609020204030204" charset="0"/>
              </a:rPr>
              <a:t>s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-- Induction steps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| p_not φ   =&gt; "(¬" ++ WFF_to_String φ ++  ")"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</a:t>
            </a:r>
            <a:r>
              <a:rPr lang="zh-CN" altLang="en-US" b="1">
                <a:latin typeface="Consolas" panose="020B0609020204030204" charset="0"/>
                <a:cs typeface="Consolas" panose="020B0609020204030204" charset="0"/>
              </a:rPr>
              <a:t>| </a:t>
            </a:r>
            <a:r>
              <a:rPr lang="zh-CN" altLang="en-US" b="1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p_and</a:t>
            </a:r>
            <a:r>
              <a:rPr lang="zh-CN" altLang="en-US" b="1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zh-CN" altLang="en-US" b="1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φ</a:t>
            </a:r>
            <a:r>
              <a:rPr lang="zh-CN" altLang="en-US" b="1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zh-CN" altLang="en-US" b="1">
                <a:solidFill>
                  <a:srgbClr val="00B050"/>
                </a:solidFill>
                <a:latin typeface="Consolas" panose="020B0609020204030204" charset="0"/>
                <a:cs typeface="Consolas" panose="020B0609020204030204" charset="0"/>
              </a:rPr>
              <a:t>ψ</a:t>
            </a:r>
            <a:r>
              <a:rPr lang="zh-CN" altLang="en-US" b="1">
                <a:latin typeface="Consolas" panose="020B0609020204030204" charset="0"/>
                <a:cs typeface="Consolas" panose="020B0609020204030204" charset="0"/>
              </a:rPr>
              <a:t> =&gt; "(" ++ WFF_to_String </a:t>
            </a:r>
            <a:r>
              <a:rPr lang="zh-CN" altLang="en-US" b="1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φ</a:t>
            </a:r>
            <a:r>
              <a:rPr lang="zh-CN" altLang="en-US" b="1">
                <a:latin typeface="Consolas" panose="020B0609020204030204" charset="0"/>
                <a:cs typeface="Consolas" panose="020B0609020204030204" charset="0"/>
              </a:rPr>
              <a:t> ++ " ∧ " ++ WFF_to_String </a:t>
            </a:r>
            <a:r>
              <a:rPr lang="zh-CN" altLang="en-US" b="1">
                <a:solidFill>
                  <a:srgbClr val="00B050"/>
                </a:solidFill>
                <a:latin typeface="Consolas" panose="020B0609020204030204" charset="0"/>
                <a:cs typeface="Consolas" panose="020B0609020204030204" charset="0"/>
              </a:rPr>
              <a:t>ψ</a:t>
            </a:r>
            <a:r>
              <a:rPr lang="zh-CN" altLang="en-US" b="1">
                <a:latin typeface="Consolas" panose="020B0609020204030204" charset="0"/>
                <a:cs typeface="Consolas" panose="020B0609020204030204" charset="0"/>
              </a:rPr>
              <a:t> ++ ")"</a:t>
            </a:r>
            <a:endParaRPr lang="zh-CN" altLang="en-US" b="1">
              <a:latin typeface="Consolas" panose="020B0609020204030204" charset="0"/>
              <a:cs typeface="Consolas" panose="020B0609020204030204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| p_or  φ ψ =&gt; "(" ++ WFF_to_String φ ++ " ∨ " ++ WFF_to_String ψ ++ ")"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| p_imp φ ψ =&gt; "(" ++ WFF_to_String φ ++ " → " ++ WFF_to_String ψ ++ ")"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| p_iff φ ψ =&gt; "(" ++ WFF_to_String φ ++ " ↔ " ++ WFF_to_String ψ ++ ")"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552950" y="0"/>
            <a:ext cx="7638415" cy="21583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p>
            <a:pPr algn="l" fontAlgn="auto">
              <a:lnSpc>
                <a:spcPct val="100000"/>
              </a:lnSpc>
            </a:pP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def complex_WFF : WFF :=</a:t>
            </a:r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Consolas" panose="020B0609020204030204" charset="0"/>
              <a:cs typeface="Consolas" panose="020B0609020204030204" charset="0"/>
            </a:endParaRPr>
          </a:p>
          <a:p>
            <a:pPr indent="-228600" algn="l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</a:pP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  p_imp (p_and A₁ (p_not A₂)) 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A₃</a:t>
            </a:r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Consolas" panose="020B0609020204030204" charset="0"/>
              <a:cs typeface="Consolas" panose="020B0609020204030204" charset="0"/>
            </a:endParaRPr>
          </a:p>
          <a:p>
            <a:pPr algn="l" fontAlgn="auto">
              <a:lnSpc>
                <a:spcPct val="100000"/>
              </a:lnSpc>
            </a:pP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手撕#eval 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WFF_to_String 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complex_WFF</a:t>
            </a:r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algn="l" fontAlgn="auto">
              <a:lnSpc>
                <a:spcPct val="100000"/>
              </a:lnSpc>
            </a:pP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=&gt;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"(" ++ WFF_to_String </a:t>
            </a:r>
            <a:r>
              <a:rPr lang="zh-CN" altLang="en-US" b="1" spc="150">
                <a:solidFill>
                  <a:srgbClr val="7030A0"/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p_and</a:t>
            </a:r>
            <a:r>
              <a:rPr lang="zh-CN" altLang="en-US" b="1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zh-CN" altLang="en-US" b="1" spc="150">
                <a:solidFill>
                  <a:srgbClr val="0070C0"/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A₁</a:t>
            </a:r>
            <a:r>
              <a:rPr lang="zh-CN" altLang="en-US" b="1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zh-CN" altLang="en-US" b="1" spc="150">
                <a:solidFill>
                  <a:srgbClr val="00B050"/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(p_not A₂)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 ++ " → " ++ WFF_to_String </a:t>
            </a:r>
            <a:r>
              <a:rPr lang="zh-CN" altLang="en-US" b="1" spc="150">
                <a:solidFill>
                  <a:schemeClr val="accent5"/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A₃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 ++ ")"</a:t>
            </a:r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algn="l" fontAlgn="auto">
              <a:lnSpc>
                <a:spcPct val="100000"/>
              </a:lnSpc>
            </a:pPr>
            <a:r>
              <a:rPr lang="en-US" altLang="zh-CN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=&gt;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"(" ++ </a:t>
            </a:r>
            <a:r>
              <a:rPr lang="zh-CN" altLang="en-US">
                <a:latin typeface="Consolas" panose="020B0609020204030204" charset="0"/>
                <a:cs typeface="Consolas" panose="020B0609020204030204" charset="0"/>
                <a:sym typeface="+mn-ea"/>
              </a:rPr>
              <a:t>"(" ++ WFF_to_String </a:t>
            </a:r>
            <a:r>
              <a:rPr lang="zh-CN" altLang="en-US" b="1" spc="150">
                <a:solidFill>
                  <a:srgbClr val="0070C0"/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A₁</a:t>
            </a:r>
            <a:r>
              <a:rPr lang="zh-CN" altLang="en-US" b="1"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zh-CN" altLang="en-US">
                <a:latin typeface="Consolas" panose="020B0609020204030204" charset="0"/>
                <a:cs typeface="Consolas" panose="020B0609020204030204" charset="0"/>
                <a:sym typeface="+mn-ea"/>
              </a:rPr>
              <a:t>++ " ∧ " ++ WFF_to_String</a:t>
            </a:r>
            <a:r>
              <a:rPr lang="zh-CN" altLang="en-US" b="1"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zh-CN" altLang="en-US" b="1" spc="150">
                <a:solidFill>
                  <a:srgbClr val="00B050"/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p_not A₂</a:t>
            </a:r>
            <a:r>
              <a:rPr lang="zh-CN" altLang="en-US" b="1"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zh-CN" altLang="en-US">
                <a:latin typeface="Consolas" panose="020B0609020204030204" charset="0"/>
                <a:cs typeface="Consolas" panose="020B0609020204030204" charset="0"/>
                <a:sym typeface="+mn-ea"/>
              </a:rPr>
              <a:t>++ ")"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 ++ " → " ++ </a:t>
            </a:r>
            <a:r>
              <a:rPr lang="zh-CN" altLang="en-US" b="1" spc="150">
                <a:solidFill>
                  <a:schemeClr val="accent6"/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"A₃"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 ++ ")"</a:t>
            </a:r>
            <a:endParaRPr lang="en-US" altLang="zh-CN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Consolas" panose="020B0609020204030204" charset="0"/>
              <a:cs typeface="Consolas" panose="020B06090202040302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330" y="608330"/>
            <a:ext cx="2209165" cy="705485"/>
          </a:xfrm>
        </p:spPr>
        <p:txBody>
          <a:bodyPr>
            <a:normAutofit fontScale="90000"/>
          </a:bodyPr>
          <a:p>
            <a:r>
              <a:rPr lang="zh-CN" altLang="en-US"/>
              <a:t>再战</a:t>
            </a:r>
            <a:r>
              <a:rPr lang="en-US" altLang="zh-CN"/>
              <a:t>WFF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0335" y="2600325"/>
            <a:ext cx="11247755" cy="4759325"/>
          </a:xfrm>
        </p:spPr>
        <p:txBody>
          <a:bodyPr>
            <a:normAutofit lnSpcReduction="10000"/>
          </a:bodyPr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def WFF_to_String : WFF → String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-- Base case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zh-CN" altLang="en-US" b="1">
                <a:latin typeface="Consolas" panose="020B0609020204030204" charset="0"/>
                <a:cs typeface="Consolas" panose="020B0609020204030204" charset="0"/>
              </a:rPr>
              <a:t> | </a:t>
            </a:r>
            <a:r>
              <a:rPr lang="zh-CN" altLang="en-US" b="1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p_atm s</a:t>
            </a:r>
            <a:r>
              <a:rPr lang="zh-CN" altLang="en-US" b="1">
                <a:latin typeface="Consolas" panose="020B0609020204030204" charset="0"/>
                <a:cs typeface="Consolas" panose="020B0609020204030204" charset="0"/>
              </a:rPr>
              <a:t>   =&gt; </a:t>
            </a:r>
            <a:r>
              <a:rPr lang="zh-CN" altLang="en-US" b="1">
                <a:solidFill>
                  <a:schemeClr val="accent6"/>
                </a:solidFill>
                <a:latin typeface="Consolas" panose="020B0609020204030204" charset="0"/>
                <a:cs typeface="Consolas" panose="020B0609020204030204" charset="0"/>
              </a:rPr>
              <a:t>s</a:t>
            </a:r>
            <a:endParaRPr lang="zh-CN" altLang="en-US" b="1">
              <a:latin typeface="Consolas" panose="020B0609020204030204" charset="0"/>
              <a:cs typeface="Consolas" panose="020B0609020204030204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-- Induction steps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</a:t>
            </a:r>
            <a:r>
              <a:rPr lang="zh-CN" altLang="en-US" b="1">
                <a:latin typeface="Consolas" panose="020B0609020204030204" charset="0"/>
                <a:cs typeface="Consolas" panose="020B0609020204030204" charset="0"/>
              </a:rPr>
              <a:t>| </a:t>
            </a:r>
            <a:r>
              <a:rPr lang="zh-CN" altLang="en-US" b="1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p_not</a:t>
            </a:r>
            <a:r>
              <a:rPr lang="zh-CN" altLang="en-US" b="1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zh-CN" altLang="en-US" b="1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φ</a:t>
            </a:r>
            <a:r>
              <a:rPr lang="zh-CN" altLang="en-US" b="1">
                <a:latin typeface="Consolas" panose="020B0609020204030204" charset="0"/>
                <a:cs typeface="Consolas" panose="020B0609020204030204" charset="0"/>
              </a:rPr>
              <a:t>   =&gt; "(¬" ++ WFF_to_String </a:t>
            </a:r>
            <a:r>
              <a:rPr lang="zh-CN" altLang="en-US" b="1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φ</a:t>
            </a:r>
            <a:r>
              <a:rPr lang="zh-CN" altLang="en-US" b="1">
                <a:latin typeface="Consolas" panose="020B0609020204030204" charset="0"/>
                <a:cs typeface="Consolas" panose="020B0609020204030204" charset="0"/>
              </a:rPr>
              <a:t> ++  ")"</a:t>
            </a:r>
            <a:endParaRPr lang="zh-CN" altLang="en-US" b="1">
              <a:latin typeface="Consolas" panose="020B0609020204030204" charset="0"/>
              <a:cs typeface="Consolas" panose="020B0609020204030204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| p_and φ ψ =&gt; "(" ++ WFF_to_String φ ++ " ∧ " ++ WFF_to_String ψ ++ ")"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| p_or  φ ψ =&gt; "(" ++ WFF_to_String φ ++ " ∨ " ++ WFF_to_String ψ ++ ")"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| p_imp φ ψ =&gt; "(" ++ WFF_to_String φ ++ " → " ++ WFF_to_String ψ ++ ")"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| p_iff φ ψ =&gt; "(" ++ WFF_to_String φ ++ " ↔ " ++ WFF_to_String ψ ++ ")"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552950" y="0"/>
            <a:ext cx="7638415" cy="27127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p>
            <a:pPr algn="l" fontAlgn="auto">
              <a:lnSpc>
                <a:spcPct val="100000"/>
              </a:lnSpc>
            </a:pP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def complex_WFF : WFF :=</a:t>
            </a:r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Consolas" panose="020B0609020204030204" charset="0"/>
              <a:cs typeface="Consolas" panose="020B0609020204030204" charset="0"/>
            </a:endParaRPr>
          </a:p>
          <a:p>
            <a:pPr indent="-228600" algn="l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</a:pP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  p_imp (p_and A₁ (p_not A₂)) 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A₃</a:t>
            </a:r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Consolas" panose="020B0609020204030204" charset="0"/>
              <a:cs typeface="Consolas" panose="020B0609020204030204" charset="0"/>
            </a:endParaRPr>
          </a:p>
          <a:p>
            <a:pPr algn="l" fontAlgn="auto">
              <a:lnSpc>
                <a:spcPct val="100000"/>
              </a:lnSpc>
            </a:pP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手撕#eval 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WFF_to_String 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complex_WFF</a:t>
            </a:r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algn="l" fontAlgn="auto">
              <a:lnSpc>
                <a:spcPct val="100000"/>
              </a:lnSpc>
            </a:pP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=&gt;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"(" ++ WFF_to_String p_and A₁ (p_not A₂) ++ " → " ++ WFF_to_String 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A₃ ++ ")"</a:t>
            </a:r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algn="l" fontAlgn="auto">
              <a:lnSpc>
                <a:spcPct val="100000"/>
              </a:lnSpc>
            </a:pP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=&gt;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"(" ++ "(" ++ WFF_to_String </a:t>
            </a:r>
            <a:r>
              <a:rPr lang="zh-CN" altLang="en-US" spc="150">
                <a:solidFill>
                  <a:schemeClr val="accent5"/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A₁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 ++ "</a:t>
            </a:r>
            <a:r>
              <a:rPr lang="en-US" altLang="zh-CN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∧</a:t>
            </a:r>
            <a:r>
              <a:rPr lang="en-US" altLang="zh-CN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" ++ WFF_to_String </a:t>
            </a:r>
            <a:r>
              <a:rPr lang="zh-CN" altLang="en-US" spc="150">
                <a:solidFill>
                  <a:srgbClr val="7030A0"/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p_not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zh-CN" altLang="en-US" spc="150">
                <a:solidFill>
                  <a:srgbClr val="0070C0"/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A₂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 ++ ")" ++ " →</a:t>
            </a:r>
            <a:r>
              <a:rPr lang="en-US" altLang="zh-CN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"++"A₃"++")"</a:t>
            </a:r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algn="l" fontAlgn="auto">
              <a:lnSpc>
                <a:spcPct val="100000"/>
              </a:lnSpc>
            </a:pPr>
            <a:r>
              <a:rPr lang="en-US" altLang="zh-CN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=&gt;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"(" ++ "(" ++ </a:t>
            </a:r>
            <a:r>
              <a:rPr lang="zh-CN" altLang="en-US" b="1" spc="150">
                <a:solidFill>
                  <a:schemeClr val="accent6"/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"A₁"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 ++ "</a:t>
            </a:r>
            <a:r>
              <a:rPr lang="en-US" altLang="zh-CN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∧</a:t>
            </a:r>
            <a:r>
              <a:rPr lang="en-US" altLang="zh-CN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" ++ </a:t>
            </a:r>
            <a:r>
              <a:rPr lang="zh-CN" altLang="en-US" b="1">
                <a:latin typeface="Consolas" panose="020B0609020204030204" charset="0"/>
                <a:cs typeface="Consolas" panose="020B0609020204030204" charset="0"/>
                <a:sym typeface="+mn-ea"/>
              </a:rPr>
              <a:t>"(¬" ++ WFF_to_String </a:t>
            </a:r>
            <a:r>
              <a:rPr lang="zh-CN" altLang="en-US" b="1" spc="150">
                <a:solidFill>
                  <a:srgbClr val="0070C0"/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A₂</a:t>
            </a:r>
            <a:r>
              <a:rPr lang="zh-CN" altLang="en-US" b="1">
                <a:latin typeface="Consolas" panose="020B0609020204030204" charset="0"/>
                <a:cs typeface="Consolas" panose="020B0609020204030204" charset="0"/>
                <a:sym typeface="+mn-ea"/>
              </a:rPr>
              <a:t> ++  ")"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 ++ ")" ++ " →</a:t>
            </a:r>
            <a:r>
              <a:rPr lang="en-US" altLang="zh-CN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"++"A₃"++")"</a:t>
            </a:r>
            <a:endParaRPr lang="en-US" altLang="zh-CN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Consolas" panose="020B0609020204030204" charset="0"/>
              <a:cs typeface="Consolas" panose="020B06090202040302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330" y="608330"/>
            <a:ext cx="2209165" cy="705485"/>
          </a:xfrm>
        </p:spPr>
        <p:txBody>
          <a:bodyPr>
            <a:normAutofit fontScale="90000"/>
          </a:bodyPr>
          <a:p>
            <a:r>
              <a:rPr lang="zh-CN" altLang="en-US"/>
              <a:t>再战</a:t>
            </a:r>
            <a:r>
              <a:rPr lang="en-US" altLang="zh-CN"/>
              <a:t>WFF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0335" y="2600325"/>
            <a:ext cx="11247755" cy="4759325"/>
          </a:xfrm>
        </p:spPr>
        <p:txBody>
          <a:bodyPr>
            <a:normAutofit lnSpcReduction="10000"/>
          </a:bodyPr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def WFF_to_String : WFF → String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-- Base case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</a:t>
            </a:r>
            <a:r>
              <a:rPr lang="zh-CN" altLang="en-US" b="1">
                <a:latin typeface="Consolas" panose="020B0609020204030204" charset="0"/>
                <a:cs typeface="Consolas" panose="020B0609020204030204" charset="0"/>
              </a:rPr>
              <a:t>| </a:t>
            </a:r>
            <a:r>
              <a:rPr lang="zh-CN" altLang="en-US" b="1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p_atm s</a:t>
            </a:r>
            <a:r>
              <a:rPr lang="zh-CN" altLang="en-US" b="1">
                <a:latin typeface="Consolas" panose="020B0609020204030204" charset="0"/>
                <a:cs typeface="Consolas" panose="020B0609020204030204" charset="0"/>
              </a:rPr>
              <a:t>   =&gt; </a:t>
            </a:r>
            <a:r>
              <a:rPr lang="zh-CN" altLang="en-US" b="1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s</a:t>
            </a:r>
            <a:endParaRPr lang="zh-CN" altLang="en-US" b="1">
              <a:latin typeface="Consolas" panose="020B0609020204030204" charset="0"/>
              <a:cs typeface="Consolas" panose="020B0609020204030204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-- Induction steps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| p_not φ   =&gt; "(¬" ++ WFF_to_String φ ++  ")"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| p_and φ ψ =&gt; "(" ++ WFF_to_String φ ++ " ∧ " ++ WFF_to_String ψ ++ ")"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| p_or  φ ψ =&gt; "(" ++ WFF_to_String φ ++ " ∨ " ++ WFF_to_String ψ ++ ")"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| p_imp φ ψ =&gt; "(" ++ WFF_to_String φ ++ " → " ++ WFF_to_String ψ ++ ")"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| p_iff φ ψ =&gt; "(" ++ WFF_to_String φ ++ " ↔ " ++ WFF_to_String ψ ++ ")"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552950" y="0"/>
            <a:ext cx="7638415" cy="35433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p>
            <a:pPr algn="l" fontAlgn="auto">
              <a:lnSpc>
                <a:spcPct val="100000"/>
              </a:lnSpc>
            </a:pP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def complex_WFF : WFF :=</a:t>
            </a:r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Consolas" panose="020B0609020204030204" charset="0"/>
              <a:cs typeface="Consolas" panose="020B0609020204030204" charset="0"/>
            </a:endParaRPr>
          </a:p>
          <a:p>
            <a:pPr indent="-228600" algn="l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</a:pP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  p_imp (p_and A₁ (p_not A₂)) 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A₃</a:t>
            </a:r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Consolas" panose="020B0609020204030204" charset="0"/>
              <a:cs typeface="Consolas" panose="020B0609020204030204" charset="0"/>
            </a:endParaRPr>
          </a:p>
          <a:p>
            <a:pPr algn="l" fontAlgn="auto">
              <a:lnSpc>
                <a:spcPct val="100000"/>
              </a:lnSpc>
            </a:pP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手撕#eval 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WFF_to_String 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complex_WFF</a:t>
            </a:r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algn="l" fontAlgn="auto">
              <a:lnSpc>
                <a:spcPct val="100000"/>
              </a:lnSpc>
            </a:pP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=&gt;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"(" ++ WFF_to_String p_and A₁ (p_not A₂) ++ " → " ++ WFF_to_String 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A₃ ++ ")"</a:t>
            </a:r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algn="l" fontAlgn="auto">
              <a:lnSpc>
                <a:spcPct val="100000"/>
              </a:lnSpc>
              <a:buClrTx/>
              <a:buSzTx/>
              <a:buFontTx/>
            </a:pP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=&gt;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"(" ++ "(" ++ WFF_to_String A₁ ++ " ∧ " ++ WFF_to_String p_not A₂ ++ ")" ++ " →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 "++"A₃"++")"</a:t>
            </a:r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algn="l" fontAlgn="auto">
              <a:lnSpc>
                <a:spcPct val="100000"/>
              </a:lnSpc>
              <a:buClrTx/>
              <a:buSzTx/>
              <a:buFontTx/>
            </a:pP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=&gt;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"(" ++ "(" ++ "A₁" ++ " ∧ " ++ "(¬" ++ WFF_to_String </a:t>
            </a:r>
            <a:r>
              <a:rPr lang="zh-CN" altLang="en-US" spc="150">
                <a:solidFill>
                  <a:srgbClr val="7030A0"/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A₂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 ++  ")" ++ ")" ++ " → "++"A₃"++")"</a:t>
            </a:r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algn="l" fontAlgn="auto">
              <a:lnSpc>
                <a:spcPct val="100000"/>
              </a:lnSpc>
              <a:buClrTx/>
              <a:buSzTx/>
              <a:buFontTx/>
            </a:pP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=&gt;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"(" ++ "(" ++ "A₁" ++ " ∧ " ++ "(¬" ++ </a:t>
            </a:r>
            <a:r>
              <a:rPr lang="zh-CN" altLang="en-US" b="1" spc="150">
                <a:solidFill>
                  <a:srgbClr val="0070C0"/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"A₂"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 ++  ")" ++ ")" ++ " → "++"A₃"++")"</a:t>
            </a:r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algn="l" fontAlgn="auto">
              <a:lnSpc>
                <a:spcPct val="100000"/>
              </a:lnSpc>
              <a:buClrTx/>
              <a:buSzTx/>
              <a:buFontTx/>
            </a:pPr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Consolas" panose="020B0609020204030204" charset="0"/>
              <a:cs typeface="Consolas" panose="020B06090202040302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330" y="608330"/>
            <a:ext cx="2209165" cy="705485"/>
          </a:xfrm>
        </p:spPr>
        <p:txBody>
          <a:bodyPr>
            <a:normAutofit fontScale="90000"/>
          </a:bodyPr>
          <a:p>
            <a:r>
              <a:rPr lang="zh-CN" altLang="en-US"/>
              <a:t>再战</a:t>
            </a:r>
            <a:r>
              <a:rPr lang="en-US" altLang="zh-CN"/>
              <a:t>WFF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0335" y="2600325"/>
            <a:ext cx="11247755" cy="4759325"/>
          </a:xfrm>
        </p:spPr>
        <p:txBody>
          <a:bodyPr>
            <a:normAutofit lnSpcReduction="10000"/>
          </a:bodyPr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def WFF_to_String : WFF → String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-- Base case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| p_atm s   =&gt; s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-- Induction steps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| p_not φ   =&gt; "(¬" ++ WFF_to_String φ ++  ")"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| p_and φ ψ =&gt; "(" ++ WFF_to_String φ ++ " ∧ " ++ WFF_to_String ψ ++ ")"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| p_or  φ ψ =&gt; "(" ++ WFF_to_String φ ++ " ∨ " ++ WFF_to_String ψ ++ ")"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| p_imp φ ψ =&gt; "(" ++ WFF_to_String φ ++ " → " ++ WFF_to_String ψ ++ ")"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  | p_iff φ ψ =&gt; "(" ++ WFF_to_String φ ++ " ↔ " ++ WFF_to_String ψ ++ ")"</a:t>
            </a:r>
            <a:endParaRPr lang="zh-CN" altLang="en-US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552950" y="0"/>
            <a:ext cx="7638415" cy="35433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p>
            <a:pPr algn="l" fontAlgn="auto">
              <a:lnSpc>
                <a:spcPct val="100000"/>
              </a:lnSpc>
            </a:pP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def complex_WFF : WFF :=</a:t>
            </a:r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Consolas" panose="020B0609020204030204" charset="0"/>
              <a:cs typeface="Consolas" panose="020B0609020204030204" charset="0"/>
            </a:endParaRPr>
          </a:p>
          <a:p>
            <a:pPr indent="-228600" algn="l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</a:pP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  p_imp (p_and A₁ (p_not A₂)) 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A₃</a:t>
            </a:r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Consolas" panose="020B0609020204030204" charset="0"/>
              <a:cs typeface="Consolas" panose="020B0609020204030204" charset="0"/>
            </a:endParaRPr>
          </a:p>
          <a:p>
            <a:pPr algn="l" fontAlgn="auto">
              <a:lnSpc>
                <a:spcPct val="100000"/>
              </a:lnSpc>
            </a:pP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手撕#eval 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WFF_to_String 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complex_WFF</a:t>
            </a:r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algn="l" fontAlgn="auto">
              <a:lnSpc>
                <a:spcPct val="100000"/>
              </a:lnSpc>
            </a:pP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=&gt;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"(" ++ WFF_to_String p_and A₁ (p_not A₂) ++ " → " ++ WFF_to_String 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A₃ ++ ")"</a:t>
            </a:r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algn="l" fontAlgn="auto">
              <a:lnSpc>
                <a:spcPct val="100000"/>
              </a:lnSpc>
              <a:buClrTx/>
              <a:buSzTx/>
              <a:buFontTx/>
            </a:pP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=&gt;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"(" ++ "(" ++ WFF_to_String A₁ ++ " ∧ " ++ WFF_to_String p_not A₂ ++ ")" ++ " →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 "++"A₃"++")"</a:t>
            </a:r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algn="l" fontAlgn="auto">
              <a:lnSpc>
                <a:spcPct val="100000"/>
              </a:lnSpc>
              <a:buClrTx/>
              <a:buSzTx/>
              <a:buFontTx/>
            </a:pP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=&gt;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"(" ++ "(" ++ "A₁" ++ " ∧ " ++ "(¬" ++ WFF_to_String 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A₂ ++  ")" ++ ")" ++ " → "++"A₃"++")"</a:t>
            </a:r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algn="l" fontAlgn="auto">
              <a:lnSpc>
                <a:spcPct val="100000"/>
              </a:lnSpc>
              <a:buClrTx/>
              <a:buSzTx/>
              <a:buFontTx/>
            </a:pP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=&gt;"(" ++ "(" ++ "A₁" ++ " ∧ " ++ "(¬" ++ 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"A₂" ++  ")" ++ ")" ++ " → "++"A₃"++")"</a:t>
            </a:r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algn="l" fontAlgn="auto">
              <a:lnSpc>
                <a:spcPct val="100000"/>
              </a:lnSpc>
              <a:buClrTx/>
              <a:buSzTx/>
              <a:buFontTx/>
            </a:pPr>
            <a:r>
              <a:rPr lang="en-US" altLang="zh-CN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</a:rPr>
              <a:t>=&gt;</a:t>
            </a:r>
            <a:r>
              <a:rPr lang="zh-CN" altLang="en-US" b="1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"</a:t>
            </a:r>
            <a:r>
              <a:rPr lang="en-US" altLang="zh-CN" b="1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((A</a:t>
            </a:r>
            <a:r>
              <a:rPr lang="zh-CN" altLang="en-US" b="1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onsolas" panose="020B0609020204030204" charset="0"/>
                <a:cs typeface="Consolas" panose="020B0609020204030204" charset="0"/>
                <a:sym typeface="+mn-ea"/>
              </a:rPr>
              <a:t>₁ ∧ (¬A₂)) → A₃)"</a:t>
            </a:r>
            <a:endParaRPr lang="en-US" altLang="zh-CN" b="1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Consolas" panose="020B0609020204030204" charset="0"/>
              <a:cs typeface="Consolas" panose="020B0609020204030204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PP_MARK_KEY" val="1d06036f-f263-4d0a-955d-47a5636655ec"/>
  <p:tag name="COMMONDATA" val="eyJoZGlkIjoiMzlkMTRjZDU3ODEzMjQ5NzI3NDVjZmUyNmYxOTc4MGQ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6895</Words>
  <Application>WPS 演示</Application>
  <PresentationFormat>宽屏</PresentationFormat>
  <Paragraphs>277</Paragraphs>
  <Slides>17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8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Consolas</vt:lpstr>
      <vt:lpstr>Times New Roman</vt:lpstr>
      <vt:lpstr>楷体</vt:lpstr>
      <vt:lpstr>Office 主题​​</vt:lpstr>
      <vt:lpstr>空白演示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函数</vt:lpstr>
      <vt:lpstr>PowerPoint 演示文稿</vt:lpstr>
      <vt:lpstr>PowerPoint 演示文稿</vt:lpstr>
      <vt:lpstr>归纳类型</vt:lpstr>
      <vt:lpstr>PowerPoint 演示文稿</vt:lpstr>
      <vt:lpstr>PowerPoint 演示文稿</vt:lpstr>
      <vt:lpstr>再战WFF</vt:lpstr>
      <vt:lpstr>再战WFF</vt:lpstr>
      <vt:lpstr>再战WFF</vt:lpstr>
      <vt:lpstr>再战WFF</vt:lpstr>
      <vt:lpstr>再战WFF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Dilantor</cp:lastModifiedBy>
  <cp:revision>150</cp:revision>
  <dcterms:created xsi:type="dcterms:W3CDTF">2019-06-19T02:08:00Z</dcterms:created>
  <dcterms:modified xsi:type="dcterms:W3CDTF">2025-03-25T15:43:21Z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2052-11.1.0.12165</vt:lpwstr>
  </property>
  <property fmtid="{D5CDD505-2E9C-101B-9397-08002B2CF9AE}" pid="3" name="ICV">
    <vt:lpwstr>1AD564208B12414F9F007FED7C9ABABD</vt:lpwstr>
  </property>
</Properties>
</file>