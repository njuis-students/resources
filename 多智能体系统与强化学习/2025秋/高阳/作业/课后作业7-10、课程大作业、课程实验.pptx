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756" r:id="rId2"/>
    <p:sldId id="749" r:id="rId3"/>
    <p:sldId id="750" r:id="rId4"/>
    <p:sldId id="753" r:id="rId5"/>
    <p:sldId id="754" r:id="rId6"/>
    <p:sldId id="751" r:id="rId7"/>
    <p:sldId id="752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54" userDrawn="1">
          <p15:clr>
            <a:srgbClr val="A4A3A4"/>
          </p15:clr>
        </p15:guide>
        <p15:guide id="2" pos="2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32"/>
  </p:normalViewPr>
  <p:slideViewPr>
    <p:cSldViewPr showGuides="1">
      <p:cViewPr varScale="1">
        <p:scale>
          <a:sx n="104" d="100"/>
          <a:sy n="104" d="100"/>
        </p:scale>
        <p:origin x="1092" y="76"/>
      </p:cViewPr>
      <p:guideLst>
        <p:guide orient="horz" pos="4254"/>
        <p:guide pos="289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D3334-7219-4DF2-ACB9-257CECE4BBDE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22696-1242-4EA0-94A2-F325D9EE0C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1C93F-5CD9-7655-2ECC-61767915E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25107D-8CA1-6628-FBBE-2AD50D05C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12D92582-B968-3AA1-C090-423DF7B1F7CC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（误差界）、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（失败概率）</a:t>
                </a:r>
                <a:endParaRPr kumimoji="0" lang="zh-CN" altLang="en-US" dirty="0">
                  <a:solidFill>
                    <a:schemeClr val="tx1"/>
                  </a:solidFill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/>
              </a:p>
            </p:txBody>
          </p:sp>
        </mc:Choice>
        <mc:Fallback xmlns=""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365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/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（误差界）、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（失败概率）</a:t>
                </a:r>
                <a:endParaRPr kumimoji="0" lang="zh-CN" altLang="en-US" dirty="0">
                  <a:solidFill>
                    <a:schemeClr val="tx1"/>
                  </a:solidFill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/>
              </a:p>
            </p:txBody>
          </p:sp>
        </mc:Choice>
        <mc:Fallback xmlns=""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8BBA-4349-52AF-2810-7A01AE92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4A9D91-9400-48A3-9B9F-56F7B50FD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290F0B7D-C434-55B4-4995-5B5CA344A6A1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（误差界）、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（失败概率）</a:t>
                </a:r>
                <a:endParaRPr kumimoji="0" lang="zh-CN" altLang="en-US" dirty="0">
                  <a:solidFill>
                    <a:schemeClr val="tx1"/>
                  </a:solidFill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/>
              </a:p>
            </p:txBody>
          </p:sp>
        </mc:Choice>
        <mc:Fallback xmlns=""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625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3C8-6721-C3F2-1F55-BCDB30F4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EFA228-F2C3-4376-4D29-DD480C48F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5925DBE0-9DD7-DE01-1893-B88580F54E4E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（误差界）、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（失败概率）</a:t>
                </a:r>
                <a:endParaRPr kumimoji="0" lang="zh-CN" altLang="en-US" dirty="0">
                  <a:solidFill>
                    <a:schemeClr val="tx1"/>
                  </a:solidFill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/>
              </a:p>
            </p:txBody>
          </p:sp>
        </mc:Choice>
        <mc:Fallback xmlns=""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3186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9B35A-CA4F-F70F-1AB9-54EA51168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2260E0-12C2-C94E-4B2E-47F2CB48EC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E2725809-FC26-3ACB-3425-E27FAAC0C948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（误差界）、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（失败概率）</a:t>
                </a:r>
                <a:endParaRPr kumimoji="0" lang="zh-CN" altLang="en-US" dirty="0">
                  <a:solidFill>
                    <a:schemeClr val="tx1"/>
                  </a:solidFill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/>
              </a:p>
            </p:txBody>
          </p:sp>
        </mc:Choice>
        <mc:Fallback xmlns=""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158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6B253-059B-40B5-B4FC-1A217F387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B6717B-3DFE-30A5-D61F-07AD8B26D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F21D931E-176F-9D2C-8E47-F16635C2213C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（误差界）、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（失败概率）</a:t>
                </a:r>
                <a:endParaRPr kumimoji="0" lang="zh-CN" altLang="en-US" dirty="0">
                  <a:solidFill>
                    <a:schemeClr val="tx1"/>
                  </a:solidFill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/>
              </a:p>
            </p:txBody>
          </p:sp>
        </mc:Choice>
        <mc:Fallback xmlns=""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594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C7A8-5844-3763-E862-9AB14DD1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E00277-14DA-E348-27BC-DF73BCFFE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9C731C3B-322A-85ED-E968-39F95F0DB82A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（误差界）、</a:t>
                </a:r>
                <a14:m>
                  <m:oMath xmlns:m="http://schemas.openxmlformats.org/officeDocument/2006/math">
                    <m:r>
                      <a:rPr kumimoji="0"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（失败概率）</a:t>
                </a:r>
                <a:endParaRPr kumimoji="0" lang="zh-CN" altLang="en-US" dirty="0">
                  <a:solidFill>
                    <a:schemeClr val="tx1"/>
                  </a:solidFill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/>
              </a:p>
            </p:txBody>
          </p:sp>
        </mc:Choice>
        <mc:Fallback xmlns=""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142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09302-2BFD-4CAC-A927-30E2F40E5F5B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EC8F8-3242-4FD3-9524-A69238FFCD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B02-928F-00EA-3CE6-7B631891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3F93022-EC88-8349-F9A0-6B028230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课后题目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7-10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B378BF6-E8EF-17D7-20D2-8F54233D1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" y="1340485"/>
            <a:ext cx="8892540" cy="3426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3429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B42852-F1F0-3332-23D4-B5288B2531C3}"/>
              </a:ext>
            </a:extLst>
          </p:cNvPr>
          <p:cNvSpPr txBox="1"/>
          <p:nvPr/>
        </p:nvSpPr>
        <p:spPr>
          <a:xfrm>
            <a:off x="575526" y="1772816"/>
            <a:ext cx="7992948" cy="1565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题目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：基于</a:t>
            </a:r>
            <a:r>
              <a:rPr lang="en-US" altLang="zh-CN" sz="20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PettingZoo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en-US" altLang="zh-CN" sz="20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simple_spread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环境实现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MAPPO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QMIX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题目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：基于</a:t>
            </a:r>
            <a:r>
              <a:rPr lang="en-US" altLang="zh-CN" sz="20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PettingZoo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en-US" altLang="zh-CN" sz="20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simple_adversary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环境实现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MASAC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MADDPG</a:t>
            </a:r>
            <a:r>
              <a:rPr lang="zh-CN" altLang="en-US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0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048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题目一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51460" y="1340485"/>
            <a:ext cx="8892540" cy="3426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3429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6F2D4D-690F-5DAA-50D3-0B9B5334BE80}"/>
              </a:ext>
            </a:extLst>
          </p:cNvPr>
          <p:cNvSpPr txBox="1"/>
          <p:nvPr/>
        </p:nvSpPr>
        <p:spPr>
          <a:xfrm>
            <a:off x="575526" y="1772816"/>
            <a:ext cx="7992948" cy="1108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zh-CN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GYM</a:t>
            </a:r>
            <a:r>
              <a:rPr lang="zh-CN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环境构建一场经典的森林狩猎合作游戏（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simple-tag</a:t>
            </a:r>
            <a:r>
              <a:rPr lang="zh-CN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），至少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个猎手，这是一个合作与竞争并存的环境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请选择合适的算法（至少两种）完成逃离和狩猎成功，展示游戏运行过程并分析其</a:t>
            </a:r>
            <a:r>
              <a:rPr lang="en-US" altLang="zh-CN" sz="2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reward.</a:t>
            </a:r>
            <a:endParaRPr lang="zh-CN" altLang="zh-CN" sz="20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B6DB5-4580-B75F-A3CE-0BBCC8019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50F24D1-E142-C5B3-0584-7DF488E1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题目二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B39C6C8-AA2C-B1F8-8223-9E456016E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" y="1340485"/>
            <a:ext cx="8892540" cy="3426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3429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9023E4-A7CB-5965-F70D-86EC3217E826}"/>
              </a:ext>
            </a:extLst>
          </p:cNvPr>
          <p:cNvSpPr txBox="1"/>
          <p:nvPr/>
        </p:nvSpPr>
        <p:spPr>
          <a:xfrm>
            <a:off x="575526" y="1772816"/>
            <a:ext cx="7992948" cy="370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蒙特祖玛的复仇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atari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单智能体决策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76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6F53B-3ADF-3C6A-42D1-067297B7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E3A37BA-E4E9-7484-E441-CC3BDEBA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题目一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6424F6B-1833-9CF0-18C7-9CBDCC637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" y="1340485"/>
            <a:ext cx="8892540" cy="3426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3429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0E92F8-F985-D7D1-4924-C282D7947EAF}"/>
              </a:ext>
            </a:extLst>
          </p:cNvPr>
          <p:cNvSpPr txBox="1"/>
          <p:nvPr/>
        </p:nvSpPr>
        <p:spPr>
          <a:xfrm>
            <a:off x="575526" y="1772816"/>
            <a:ext cx="7992948" cy="370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SUMO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交通信号灯环境下得到最优策略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18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018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359AA-393A-ADA4-54DD-AFCA02F3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931334E-5676-3CFD-63C9-06981F9D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题目二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6656706-4D60-F8C5-4637-8A6DBCF92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" y="1340485"/>
            <a:ext cx="8892540" cy="3426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3429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B9A639-C086-0B1B-02C8-6395BC1EBFBD}"/>
              </a:ext>
            </a:extLst>
          </p:cNvPr>
          <p:cNvSpPr txBox="1"/>
          <p:nvPr/>
        </p:nvSpPr>
        <p:spPr>
          <a:xfrm>
            <a:off x="539552" y="1196752"/>
            <a:ext cx="7992948" cy="6071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题目名称：</a:t>
            </a:r>
            <a:r>
              <a:rPr lang="en-US" altLang="zh-CN" sz="1400" kern="1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PyTorch-SnakeRL</a:t>
            </a:r>
            <a:b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描述：</a:t>
            </a:r>
            <a:b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使用 </a:t>
            </a:r>
            <a:r>
              <a:rPr lang="en-US" altLang="zh-CN" sz="1400" kern="1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PyTorch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和策略梯度算法训练 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AI 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玩贪吃蛇游戏的项目，展示如何通过深度强化学习让智能体自主学习高效的贪吃蛇策略。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任务：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b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环境建模与构建：使用 </a:t>
            </a:r>
            <a:r>
              <a:rPr lang="en-US" altLang="zh-CN" sz="1400" kern="1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pygame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库构建贪吃蛇游戏环境，实现蛇的移动、食物生成、碰撞检测（撞到边界或自身）和得分机制。设计可调整的游戏参数（如地图大小、蛇的初始长度）以测试 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AI 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的泛化能力。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MARL 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算法实现：采用 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PPO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（近端策略优化）或 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A2C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（优势 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Actor-Critic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）等策略梯度算法，结合 </a:t>
            </a:r>
            <a:r>
              <a:rPr lang="en-US" altLang="zh-CN" sz="1400" kern="1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PyTorch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框架实现。设计适合贪吃蛇的状态表示（如蛇头位置、身体方向、食物位置、障碍物分布）和动作空间（上下左右移动）。使用卷积神经网络（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CNN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）处理游戏画面特征，或使用全连接网络处理抽象状态。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策略可视化分析：可视化训练过程中的关键指标（如平均得分、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episode 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长度、收敛曲线）和 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AI 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决策过程（如蛇的移动轨迹、注意力分布）。分析 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AI 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在不同难度下的行为模式，例如是否学会避免陷阱、优化路径规划。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训练优化指标：最大化游戏得分和蛇的长度，同时最小化游戏失败率。通过训练使 </a:t>
            </a:r>
            <a:r>
              <a:rPr lang="en-US" altLang="zh-CN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AI </a:t>
            </a:r>
            <a:r>
              <a:rPr lang="zh-CN" altLang="en-US" sz="1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能够持续生存并高效获取食物，达到尽可能长的蛇身长度。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br>
              <a:rPr lang="zh-CN" altLang="en-US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13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43C84-6CF7-619C-FC45-6D2CFFC4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6DBF7F7-DE84-5779-5E70-82FC9A052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题目三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F31413E-B5F2-A1B3-D5E3-1D9F9D0C9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" y="1340485"/>
            <a:ext cx="8892540" cy="3426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3429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D5D69D-D649-C0F9-B8A1-849F93D27512}"/>
              </a:ext>
            </a:extLst>
          </p:cNvPr>
          <p:cNvSpPr txBox="1"/>
          <p:nvPr/>
        </p:nvSpPr>
        <p:spPr>
          <a:xfrm>
            <a:off x="827584" y="1356509"/>
            <a:ext cx="7992948" cy="4512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题目名称：</a:t>
            </a:r>
            <a:r>
              <a:rPr lang="en-US" altLang="zh-CN" sz="18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Keras-FlappyBird</a:t>
            </a:r>
            <a:endParaRPr lang="en-US" altLang="zh-CN" sz="18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描述：</a:t>
            </a:r>
            <a:r>
              <a:rPr lang="en-US" altLang="zh-CN" sz="18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Keras-FlappyBird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是一个使用</a:t>
            </a:r>
            <a:r>
              <a:rPr lang="en-US" altLang="zh-CN" sz="18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Keras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和深度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网络（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DQN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）来训练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AI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玩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Flappy Bird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游戏的项目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旨在展示如何利用强化学习控制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Flappy Bird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角色。</a:t>
            </a:r>
            <a:endParaRPr lang="en-US" altLang="zh-CN" sz="18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任务：</a:t>
            </a:r>
            <a:endParaRPr lang="en-US" altLang="zh-CN" sz="18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环境建模与构建：使用</a:t>
            </a:r>
            <a:r>
              <a:rPr lang="en-US" altLang="zh-CN" sz="18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pygame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库构建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Flappy Bird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游戏环境，模拟鸟类飞行、碰撞检测和得分机制。</a:t>
            </a:r>
            <a:endParaRPr lang="en-US" altLang="zh-CN" sz="18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MARL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算法实现：采用深度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网络（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DQN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）算法，结合</a:t>
            </a:r>
            <a:r>
              <a:rPr lang="en-US" altLang="zh-CN" sz="18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Keras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深度学习框架，对游戏环境进行训练，使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AI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能够自主学习并优化游戏策略。</a:t>
            </a:r>
            <a:endParaRPr lang="en-US" altLang="zh-CN" sz="18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策略可视化分析：可视化训练过程和策略效果，分析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AI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在游戏中的表现，并进行策略调整以提高游戏成绩。</a:t>
            </a:r>
            <a:endParaRPr lang="en-US" altLang="zh-CN" sz="18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训练优化指标：最大化游戏得分，即通过训练使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AI</a:t>
            </a:r>
            <a:r>
              <a:rPr lang="zh-CN" altLang="en-US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在游戏中获得尽可能高的分数。</a:t>
            </a:r>
            <a:endParaRPr lang="zh-CN" altLang="zh-CN" sz="18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03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104B-C0A6-B759-AA01-B534F7B87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86CF879-6C77-BFBA-6798-04BBCF5F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题目四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6DE5A77-0140-E2CE-1E59-A5CA54ED0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" y="1340485"/>
            <a:ext cx="8892540" cy="3426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Autofit/>
          </a:bodyPr>
          <a:lstStyle>
            <a:lvl1pPr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4572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zh-CN" altLang="en-US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342900" ea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kumimoji="0"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F84F3C-42B5-D4A9-ECD5-71359896EE4A}"/>
              </a:ext>
            </a:extLst>
          </p:cNvPr>
          <p:cNvSpPr txBox="1"/>
          <p:nvPr/>
        </p:nvSpPr>
        <p:spPr>
          <a:xfrm>
            <a:off x="827584" y="1356509"/>
            <a:ext cx="7992948" cy="2611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题目名称：基于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MARL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的仓储物流路径规划与任务分配系统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描述：设计一个多智能体强化学习（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MARL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）系统，实现仓储物流中多台自动导引车的协同路径规划与任务分配，以最小化货物运输时间、避免碰撞并优化资源利用率。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任务： 环境建模与构建，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MARL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算法实现（可选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MAPPO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QMIX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MADDPG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），策略可视化分析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训练优化指标：最小化货物平均运输时间和碰撞次数</a:t>
            </a:r>
          </a:p>
        </p:txBody>
      </p:sp>
    </p:spTree>
    <p:extLst>
      <p:ext uri="{BB962C8B-B14F-4D97-AF65-F5344CB8AC3E}">
        <p14:creationId xmlns:p14="http://schemas.microsoft.com/office/powerpoint/2010/main" val="1998948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710</Words>
  <Application>Microsoft Office PowerPoint</Application>
  <PresentationFormat>全屏显示(4:3)</PresentationFormat>
  <Paragraphs>51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黑体</vt:lpstr>
      <vt:lpstr>Arial</vt:lpstr>
      <vt:lpstr>Calibri</vt:lpstr>
      <vt:lpstr>Cambria Math</vt:lpstr>
      <vt:lpstr>Times New Roman</vt:lpstr>
      <vt:lpstr>Wingdings</vt:lpstr>
      <vt:lpstr>Office 主题</vt:lpstr>
      <vt:lpstr>课后题目7-10</vt:lpstr>
      <vt:lpstr>题目一</vt:lpstr>
      <vt:lpstr>题目二</vt:lpstr>
      <vt:lpstr>题目一</vt:lpstr>
      <vt:lpstr>题目二</vt:lpstr>
      <vt:lpstr>题目三</vt:lpstr>
      <vt:lpstr>题目四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计算思维之人工智能</dc:title>
  <dc:creator>高阳</dc:creator>
  <cp:lastModifiedBy>永铭 田</cp:lastModifiedBy>
  <cp:revision>371</cp:revision>
  <dcterms:created xsi:type="dcterms:W3CDTF">2012-05-02T00:33:00Z</dcterms:created>
  <dcterms:modified xsi:type="dcterms:W3CDTF">2025-06-06T08:52:55Z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C5687F980D4649659C8E60584AD07B48_13</vt:lpwstr>
  </property>
  <property fmtid="{D5CDD505-2E9C-101B-9397-08002B2CF9AE}" pid="3" name="KSOProductBuildVer">
    <vt:lpwstr>2052-12.1.0.20305</vt:lpwstr>
  </property>
</Properties>
</file>