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1016" r:id="rId3"/>
    <p:sldId id="1028" r:id="rId4"/>
    <p:sldId id="1026" r:id="rId5"/>
    <p:sldId id="1029" r:id="rId6"/>
    <p:sldId id="1030" r:id="rId7"/>
  </p:sldIdLst>
  <p:sldSz cx="9144000" cy="6858000" type="screen4x3"/>
  <p:notesSz cx="6858000" cy="9144000"/>
  <p:custDataLst>
    <p:tags r:id="rId1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豫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745"/>
    <a:srgbClr val="6FD26B"/>
    <a:srgbClr val="77BC85"/>
    <a:srgbClr val="9BD5ED"/>
    <a:srgbClr val="65A1BD"/>
    <a:srgbClr val="6B5DE5"/>
    <a:srgbClr val="AFB2BC"/>
    <a:srgbClr val="95B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75366" autoAdjust="0"/>
  </p:normalViewPr>
  <p:slideViewPr>
    <p:cSldViewPr showGuides="1">
      <p:cViewPr varScale="1">
        <p:scale>
          <a:sx n="62" d="100"/>
          <a:sy n="62" d="100"/>
        </p:scale>
        <p:origin x="135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8" d="100"/>
          <a:sy n="108" d="100"/>
        </p:scale>
        <p:origin x="440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C0A5D-DCD1-7B4E-9120-7DD0240274F0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2D2D4-B9D6-F542-A981-AE3DEB7C5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4F4611B-65C4-DF42-8742-94AAB62FD99B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745C8AA-5B13-384B-9F89-166CC5C46B3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45C8AA-5B13-384B-9F89-166CC5C46B3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45C8AA-5B13-384B-9F89-166CC5C46B3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45C8AA-5B13-384B-9F89-166CC5C46B3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45C8AA-5B13-384B-9F89-166CC5C46B3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610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2998" y="815297"/>
            <a:ext cx="6858000" cy="2387600"/>
          </a:xfrm>
        </p:spPr>
        <p:txBody>
          <a:bodyPr anchor="b"/>
          <a:lstStyle>
            <a:lvl1pPr algn="ctr">
              <a:defRPr sz="4500">
                <a:latin typeface="等线" panose="02010600030101010101" charset="-122"/>
                <a:ea typeface="Hiragino Sans GB W3" panose="020B0300000000000000" pitchFamily="34" charset="-128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2998" y="3294972"/>
            <a:ext cx="6858000" cy="1342635"/>
          </a:xfrm>
        </p:spPr>
        <p:txBody>
          <a:bodyPr/>
          <a:lstStyle>
            <a:lvl1pPr marL="0" indent="0" algn="ctr">
              <a:buNone/>
              <a:defRPr sz="1800">
                <a:latin typeface="Hiragino Sans GB W3" panose="020B0300000000000000" pitchFamily="34" charset="-128"/>
                <a:ea typeface="Hiragino Sans GB W3" panose="020B0300000000000000" pitchFamily="34" charset="-128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228" y="246392"/>
            <a:ext cx="2396359" cy="94103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57545" y="208240"/>
            <a:ext cx="1829020" cy="98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551887"/>
            <a:ext cx="7886700" cy="925222"/>
          </a:xfrm>
          <a:noFill/>
        </p:spPr>
        <p:txBody>
          <a:bodyPr>
            <a:normAutofit/>
          </a:bodyPr>
          <a:lstStyle>
            <a:lvl1pPr algn="l">
              <a:defRPr sz="3200" baseline="0">
                <a:solidFill>
                  <a:srgbClr val="C00000"/>
                </a:solidFill>
                <a:latin typeface="CMU Sans Serif" panose="02000603000000000000" pitchFamily="2" charset="0"/>
                <a:ea typeface="Hiragino Sans GB W3" panose="020B0300000000000000" pitchFamily="34" charset="-128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623195"/>
            <a:ext cx="7886700" cy="4733156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600"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613025"/>
          </a:xfrm>
        </p:spPr>
        <p:txBody>
          <a:bodyPr anchor="b">
            <a:normAutofit/>
          </a:bodyPr>
          <a:lstStyle>
            <a:lvl1pPr algn="ctr">
              <a:defRPr sz="4000">
                <a:latin typeface="Hiragino Sans GB W3" panose="020B0300000000000000" pitchFamily="34" charset="-128"/>
                <a:ea typeface="Hiragino Sans GB W3" panose="020B0300000000000000" pitchFamily="34" charset="-128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09512" y="2828689"/>
            <a:ext cx="3839072" cy="1200623"/>
          </a:xfrm>
        </p:spPr>
        <p:txBody>
          <a:bodyPr anchor="b">
            <a:normAutofit/>
          </a:bodyPr>
          <a:lstStyle>
            <a:lvl1pPr algn="ctr">
              <a:defRPr sz="3200">
                <a:latin typeface="Hiragino Sans GB W3" panose="020B0300000000000000" pitchFamily="34" charset="-128"/>
                <a:ea typeface="Hiragino Sans GB W3" panose="020B0300000000000000" pitchFamily="34" charset="-128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909512" y="4311902"/>
            <a:ext cx="3839072" cy="15001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4909512" y="2295625"/>
            <a:ext cx="3839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技术工作陈述</a:t>
            </a:r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338658" y="4541175"/>
            <a:ext cx="4291781" cy="1663324"/>
            <a:chOff x="222911" y="4737945"/>
            <a:chExt cx="4291781" cy="1663324"/>
          </a:xfrm>
        </p:grpSpPr>
        <p:sp>
          <p:nvSpPr>
            <p:cNvPr id="27" name="矩形 26"/>
            <p:cNvSpPr/>
            <p:nvPr userDrawn="1"/>
          </p:nvSpPr>
          <p:spPr>
            <a:xfrm>
              <a:off x="222911" y="4737945"/>
              <a:ext cx="4291781" cy="1663324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矩形 70"/>
            <p:cNvSpPr/>
            <p:nvPr userDrawn="1"/>
          </p:nvSpPr>
          <p:spPr>
            <a:xfrm>
              <a:off x="1795810" y="5947193"/>
              <a:ext cx="2513270" cy="2769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lt1"/>
                  </a:solidFill>
                </a:rPr>
                <a:t>访存依赖的定义与性质</a:t>
              </a:r>
              <a:endParaRPr lang="en-US" sz="1200" dirty="0">
                <a:solidFill>
                  <a:schemeClr val="accent5"/>
                </a:solidFill>
              </a:endParaRPr>
            </a:p>
          </p:txBody>
        </p:sp>
        <p:sp>
          <p:nvSpPr>
            <p:cNvPr id="7" name="文本框 6"/>
            <p:cNvSpPr txBox="1"/>
            <p:nvPr userDrawn="1"/>
          </p:nvSpPr>
          <p:spPr>
            <a:xfrm>
              <a:off x="222912" y="5239307"/>
              <a:ext cx="156871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/>
                <a:t>访存依赖的</a:t>
              </a:r>
              <a:endParaRPr lang="en-US" altLang="zh-CN" sz="2000" dirty="0"/>
            </a:p>
            <a:p>
              <a:pPr algn="ctr"/>
              <a:r>
                <a:rPr lang="zh-CN" altLang="en-US" sz="2000" dirty="0"/>
                <a:t>研究框架</a:t>
              </a:r>
              <a:endParaRPr lang="en-US" sz="2000" dirty="0"/>
            </a:p>
          </p:txBody>
        </p:sp>
        <p:grpSp>
          <p:nvGrpSpPr>
            <p:cNvPr id="26" name="组合 25"/>
            <p:cNvGrpSpPr/>
            <p:nvPr userDrawn="1"/>
          </p:nvGrpSpPr>
          <p:grpSpPr>
            <a:xfrm>
              <a:off x="2096813" y="4846946"/>
              <a:ext cx="2037188" cy="981953"/>
              <a:chOff x="2170434" y="5097242"/>
              <a:chExt cx="1559841" cy="751865"/>
            </a:xfrm>
          </p:grpSpPr>
          <p:cxnSp>
            <p:nvCxnSpPr>
              <p:cNvPr id="10" name="直接箭头连接符 9"/>
              <p:cNvCxnSpPr/>
              <p:nvPr/>
            </p:nvCxnSpPr>
            <p:spPr>
              <a:xfrm flipV="1">
                <a:off x="2170434" y="5097242"/>
                <a:ext cx="741377" cy="751865"/>
              </a:xfrm>
              <a:prstGeom prst="straightConnector1">
                <a:avLst/>
              </a:prstGeom>
              <a:ln w="19050">
                <a:headEnd w="lg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/>
              <p:nvPr/>
            </p:nvCxnSpPr>
            <p:spPr>
              <a:xfrm flipV="1">
                <a:off x="2170434" y="5124463"/>
                <a:ext cx="0" cy="715845"/>
              </a:xfrm>
              <a:prstGeom prst="straightConnector1">
                <a:avLst/>
              </a:prstGeom>
              <a:ln w="19050">
                <a:headEnd w="lg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立方体 19"/>
              <p:cNvSpPr/>
              <p:nvPr/>
            </p:nvSpPr>
            <p:spPr>
              <a:xfrm>
                <a:off x="2173045" y="5139326"/>
                <a:ext cx="1554024" cy="706881"/>
              </a:xfrm>
              <a:prstGeom prst="cube">
                <a:avLst>
                  <a:gd name="adj" fmla="val 42839"/>
                </a:avLst>
              </a:prstGeom>
              <a:solidFill>
                <a:schemeClr val="accent1">
                  <a:alpha val="2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cxnSp>
            <p:nvCxnSpPr>
              <p:cNvPr id="21" name="直接箭头连接符 20"/>
              <p:cNvCxnSpPr/>
              <p:nvPr/>
            </p:nvCxnSpPr>
            <p:spPr>
              <a:xfrm>
                <a:off x="2170434" y="5849106"/>
                <a:ext cx="1559841" cy="0"/>
              </a:xfrm>
              <a:prstGeom prst="straightConnector1">
                <a:avLst/>
              </a:prstGeom>
              <a:ln w="19050">
                <a:headEnd w="lg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组合 30"/>
          <p:cNvGrpSpPr/>
          <p:nvPr userDrawn="1"/>
        </p:nvGrpSpPr>
        <p:grpSpPr>
          <a:xfrm>
            <a:off x="338658" y="2753729"/>
            <a:ext cx="4291781" cy="1524136"/>
            <a:chOff x="222911" y="2950499"/>
            <a:chExt cx="4291781" cy="1524136"/>
          </a:xfrm>
        </p:grpSpPr>
        <p:sp>
          <p:nvSpPr>
            <p:cNvPr id="59" name="矩形 58"/>
            <p:cNvSpPr/>
            <p:nvPr userDrawn="1"/>
          </p:nvSpPr>
          <p:spPr>
            <a:xfrm>
              <a:off x="222911" y="2950499"/>
              <a:ext cx="4291781" cy="1524136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2336610" y="3163789"/>
              <a:ext cx="1615437" cy="4924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/>
                <a:t>乐观锁</a:t>
              </a:r>
              <a:endParaRPr lang="en-US" altLang="zh-CN" sz="1400" dirty="0"/>
            </a:p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利用线程局部性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336610" y="3764164"/>
              <a:ext cx="1620957" cy="4924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zh-CN" altLang="en-US" sz="1400" dirty="0"/>
                <a:t>二分组协议</a:t>
              </a:r>
              <a:endParaRPr lang="en-US" altLang="zh-CN" sz="1400" dirty="0"/>
            </a:p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利用空间</a:t>
              </a:r>
              <a:r>
                <a:rPr lang="en-US" altLang="zh-CN" sz="1200" dirty="0">
                  <a:solidFill>
                    <a:schemeClr val="bg1"/>
                  </a:solidFill>
                </a:rPr>
                <a:t>-</a:t>
              </a:r>
              <a:r>
                <a:rPr lang="zh-CN" altLang="en-US" sz="1200" dirty="0">
                  <a:solidFill>
                    <a:schemeClr val="bg1"/>
                  </a:solidFill>
                </a:rPr>
                <a:t>线程局部性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文本框 54"/>
            <p:cNvSpPr txBox="1"/>
            <p:nvPr userDrawn="1"/>
          </p:nvSpPr>
          <p:spPr>
            <a:xfrm>
              <a:off x="222911" y="3262032"/>
              <a:ext cx="1556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/>
                <a:t>访存依赖的</a:t>
              </a:r>
              <a:endParaRPr lang="en-US" altLang="zh-CN" sz="2000" dirty="0"/>
            </a:p>
            <a:p>
              <a:pPr algn="ctr"/>
              <a:r>
                <a:rPr lang="zh-CN" altLang="en-US" sz="2000" dirty="0"/>
                <a:t>获取技术</a:t>
              </a:r>
              <a:endParaRPr lang="en-US" sz="2000" dirty="0"/>
            </a:p>
          </p:txBody>
        </p:sp>
      </p:grpSp>
      <p:grpSp>
        <p:nvGrpSpPr>
          <p:cNvPr id="33" name="组合 32"/>
          <p:cNvGrpSpPr/>
          <p:nvPr userDrawn="1"/>
        </p:nvGrpSpPr>
        <p:grpSpPr>
          <a:xfrm>
            <a:off x="338658" y="798978"/>
            <a:ext cx="4291781" cy="1663324"/>
            <a:chOff x="136101" y="1023865"/>
            <a:chExt cx="4291781" cy="1663324"/>
          </a:xfrm>
        </p:grpSpPr>
        <p:sp>
          <p:nvSpPr>
            <p:cNvPr id="63" name="矩形 62"/>
            <p:cNvSpPr/>
            <p:nvPr userDrawn="1"/>
          </p:nvSpPr>
          <p:spPr>
            <a:xfrm>
              <a:off x="136101" y="1023865"/>
              <a:ext cx="4291781" cy="1663324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文本框 55"/>
            <p:cNvSpPr txBox="1"/>
            <p:nvPr userDrawn="1"/>
          </p:nvSpPr>
          <p:spPr>
            <a:xfrm>
              <a:off x="136101" y="1542928"/>
              <a:ext cx="17891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/>
                <a:t>基于访存依赖</a:t>
              </a:r>
              <a:endParaRPr lang="en-US" altLang="zh-CN" sz="2000" dirty="0"/>
            </a:p>
            <a:p>
              <a:pPr algn="ctr"/>
              <a:r>
                <a:rPr lang="zh-CN" altLang="en-US" sz="2000" dirty="0"/>
                <a:t>的动态分析</a:t>
              </a:r>
              <a:endParaRPr lang="en-US" sz="2000" dirty="0"/>
            </a:p>
          </p:txBody>
        </p:sp>
        <p:sp>
          <p:nvSpPr>
            <p:cNvPr id="65" name="矩形 64"/>
            <p:cNvSpPr/>
            <p:nvPr userDrawn="1"/>
          </p:nvSpPr>
          <p:spPr>
            <a:xfrm>
              <a:off x="2825594" y="1943551"/>
              <a:ext cx="673526" cy="4616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数据竞争检测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6" name="矩形 65"/>
            <p:cNvSpPr/>
            <p:nvPr userDrawn="1"/>
          </p:nvSpPr>
          <p:spPr>
            <a:xfrm>
              <a:off x="1883612" y="1943551"/>
              <a:ext cx="848809" cy="4616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崩溃一致性检测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8" name="矩形 67"/>
            <p:cNvSpPr/>
            <p:nvPr userDrawn="1"/>
          </p:nvSpPr>
          <p:spPr>
            <a:xfrm>
              <a:off x="2627945" y="1375241"/>
              <a:ext cx="801017" cy="4616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移动应用缺陷暴露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9" name="矩形 68"/>
            <p:cNvSpPr/>
            <p:nvPr userDrawn="1"/>
          </p:nvSpPr>
          <p:spPr>
            <a:xfrm>
              <a:off x="1900603" y="1375241"/>
              <a:ext cx="530120" cy="4616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执行重放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70" name="矩形 69"/>
            <p:cNvSpPr/>
            <p:nvPr userDrawn="1"/>
          </p:nvSpPr>
          <p:spPr>
            <a:xfrm>
              <a:off x="3592293" y="1943551"/>
              <a:ext cx="740779" cy="4616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层次调度器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72" name="矩形 71"/>
            <p:cNvSpPr/>
            <p:nvPr userDrawn="1"/>
          </p:nvSpPr>
          <p:spPr>
            <a:xfrm>
              <a:off x="3626185" y="1375241"/>
              <a:ext cx="696409" cy="4616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假共享检测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07957" y="6356351"/>
            <a:ext cx="30739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400" b="1" baseline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erif" panose="02000603000000000000" pitchFamily="2" charset="0"/>
              </a:defRPr>
            </a:lvl1pPr>
          </a:lstStyle>
          <a:p>
            <a:fld id="{5AC3D451-A5ED-4B51-9776-FF081A65E8D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直接连接符 12"/>
          <p:cNvCxnSpPr/>
          <p:nvPr userDrawn="1"/>
        </p:nvCxnSpPr>
        <p:spPr>
          <a:xfrm flipH="1" flipV="1">
            <a:off x="617220" y="537210"/>
            <a:ext cx="6458290" cy="10478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530269" y="187769"/>
            <a:ext cx="495970" cy="4997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spcAft>
          <a:spcPts val="500"/>
        </a:spcAft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MU Sans Serif" panose="02000603000000000000" pitchFamily="2" charset="0"/>
          <a:ea typeface="Hiragino Sans GB W3" panose="020B0300000000000000" pitchFamily="34" charset="-128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500"/>
        </a:spcAft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CMU Sans Serif" panose="02000603000000000000" pitchFamily="2" charset="0"/>
          <a:ea typeface="Hiragino Sans GB W3" panose="020B0300000000000000" pitchFamily="34" charset="-128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500"/>
        </a:spcAft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MU Sans Serif" panose="02000603000000000000" pitchFamily="2" charset="0"/>
          <a:ea typeface="Hiragino Sans GB W3" panose="020B0300000000000000" pitchFamily="34" charset="-128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500"/>
        </a:spcAft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MU Sans Serif" panose="02000603000000000000" pitchFamily="2" charset="0"/>
          <a:ea typeface="Hiragino Sans GB W3" panose="020B0300000000000000" pitchFamily="34" charset="-128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500"/>
        </a:spcAft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MU Sans Serif" panose="02000603000000000000" pitchFamily="2" charset="0"/>
          <a:ea typeface="Hiragino Sans GB W3" panose="020B0300000000000000" pitchFamily="34" charset="-128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2593" y="2420888"/>
            <a:ext cx="8278813" cy="1143000"/>
          </a:xfrm>
        </p:spPr>
        <p:txBody>
          <a:bodyPr/>
          <a:lstStyle/>
          <a:p>
            <a:r>
              <a:rPr lang="zh-CN" altLang="en-US" sz="3600" dirty="0"/>
              <a:t>题型</a:t>
            </a:r>
            <a:r>
              <a:rPr lang="zh-CN" altLang="en-US" sz="3600"/>
              <a:t>和重要考点</a:t>
            </a:r>
            <a:endParaRPr kumimoji="0" lang="zh-CN" altLang="en-US" sz="3600" dirty="0"/>
          </a:p>
        </p:txBody>
      </p:sp>
      <p:sp>
        <p:nvSpPr>
          <p:cNvPr id="1433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91176" y="4077072"/>
            <a:ext cx="2961645" cy="1512168"/>
          </a:xfrm>
        </p:spPr>
        <p:txBody>
          <a:bodyPr>
            <a:normAutofit/>
          </a:bodyPr>
          <a:lstStyle/>
          <a:p>
            <a:pPr eaLnBrk="1" hangingPunct="1"/>
            <a:endParaRPr kumimoji="0"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题型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一</a:t>
            </a:r>
            <a:r>
              <a:rPr lang="zh-CN" altLang="en-US" dirty="0"/>
              <a:t>、</a:t>
            </a:r>
            <a:r>
              <a:rPr lang="en-US" dirty="0"/>
              <a:t>简述题</a:t>
            </a:r>
            <a:r>
              <a:rPr lang="zh-CN" altLang="en-US" dirty="0"/>
              <a:t>（满分</a:t>
            </a:r>
            <a:r>
              <a:rPr lang="en-US" altLang="zh-CN" dirty="0"/>
              <a:t>25</a:t>
            </a:r>
            <a:r>
              <a:rPr lang="zh-CN" altLang="en-US" dirty="0"/>
              <a:t>分）</a:t>
            </a:r>
            <a:endParaRPr lang="en-US" dirty="0"/>
          </a:p>
          <a:p>
            <a:pPr lvl="1"/>
            <a:r>
              <a:rPr lang="en-US" altLang="ja-JP" dirty="0"/>
              <a:t>1. </a:t>
            </a:r>
            <a:r>
              <a:rPr lang="ja-JP" altLang="en-US"/>
              <a:t>为什么说继承与封装存在矛盾？</a:t>
            </a:r>
            <a:endParaRPr lang="en-US" altLang="ja-JP" dirty="0"/>
          </a:p>
          <a:p>
            <a:pPr lvl="1"/>
            <a:r>
              <a:rPr lang="en-US" altLang="zh-CN" dirty="0"/>
              <a:t>… </a:t>
            </a:r>
            <a:r>
              <a:rPr lang="zh-CN" altLang="en-US" dirty="0"/>
              <a:t>（不用死记硬背）</a:t>
            </a:r>
            <a:endParaRPr lang="en-US" altLang="ja-JP" dirty="0"/>
          </a:p>
          <a:p>
            <a:r>
              <a:rPr lang="ja-JP" altLang="en-US"/>
              <a:t>二、 程序分析题</a:t>
            </a:r>
            <a:r>
              <a:rPr lang="zh-CN" altLang="en-US" dirty="0"/>
              <a:t>（四题满分</a:t>
            </a:r>
            <a:r>
              <a:rPr lang="en-US" altLang="zh-CN" dirty="0"/>
              <a:t>40</a:t>
            </a:r>
            <a:r>
              <a:rPr lang="zh-CN" altLang="en-US" dirty="0"/>
              <a:t>分）</a:t>
            </a:r>
            <a:endParaRPr lang="en-US" altLang="zh-CN" dirty="0"/>
          </a:p>
          <a:p>
            <a:pPr lvl="1"/>
            <a:r>
              <a:rPr lang="ja-JP" altLang="en-US"/>
              <a:t>下面的程序有几个错误，请分别指出。</a:t>
            </a:r>
            <a:endParaRPr lang="en-US" altLang="ja-JP" dirty="0"/>
          </a:p>
          <a:p>
            <a:pPr lvl="1"/>
            <a:r>
              <a:rPr lang="ja-JP" altLang="en-US"/>
              <a:t>写出下面程序的运行结果。</a:t>
            </a:r>
            <a:endParaRPr lang="en-US" altLang="ja-JP" dirty="0"/>
          </a:p>
          <a:p>
            <a:pPr lvl="1"/>
            <a:r>
              <a:rPr lang="ja-JP" altLang="en-US"/>
              <a:t>写出下面程序的运行结果，并指出可能存在的问题。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2</a:t>
            </a:fld>
            <a:endParaRPr lang="en-US"/>
          </a:p>
        </p:txBody>
      </p:sp>
      <p:sp>
        <p:nvSpPr>
          <p:cNvPr id="7" name="Content Placeholder 2"/>
          <p:cNvSpPr txBox="1"/>
          <p:nvPr/>
        </p:nvSpPr>
        <p:spPr>
          <a:xfrm>
            <a:off x="628650" y="1623195"/>
            <a:ext cx="7886700" cy="4733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35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898" y="2636912"/>
            <a:ext cx="3017251" cy="1380232"/>
          </a:xfrm>
          <a:prstGeom prst="rect">
            <a:avLst/>
          </a:prstGeom>
        </p:spPr>
      </p:pic>
      <p:sp>
        <p:nvSpPr>
          <p:cNvPr id="15" name="Content Placeholder 7"/>
          <p:cNvSpPr txBox="1"/>
          <p:nvPr/>
        </p:nvSpPr>
        <p:spPr>
          <a:xfrm>
            <a:off x="1937598" y="5205064"/>
            <a:ext cx="5514722" cy="1734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35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kumimoji="0"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题型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三、实现下面的两道程序（本题满分 </a:t>
            </a:r>
            <a:r>
              <a:rPr lang="en-US" altLang="ja-JP" dirty="0"/>
              <a:t>35 </a:t>
            </a:r>
            <a:r>
              <a:rPr lang="ja-JP" altLang="en-US"/>
              <a:t>分）</a:t>
            </a:r>
            <a:endParaRPr lang="en-US" altLang="ja-JP" dirty="0"/>
          </a:p>
          <a:p>
            <a:pPr lvl="1"/>
            <a:r>
              <a:rPr lang="ja-JP" altLang="en-US"/>
              <a:t>把下面的递归函数改成尾递归函数</a:t>
            </a:r>
            <a:endParaRPr lang="en-US" altLang="ja-JP" dirty="0"/>
          </a:p>
          <a:p>
            <a:pPr lvl="1"/>
            <a:r>
              <a:rPr lang="ja-JP" altLang="en-US"/>
              <a:t>小明同学想要</a:t>
            </a:r>
            <a:r>
              <a:rPr lang="en-US" altLang="ja-JP" dirty="0"/>
              <a:t>xxx</a:t>
            </a:r>
            <a:r>
              <a:rPr lang="ja-JP" altLang="en-US"/>
              <a:t>。请根据下面的使用示例和相应的输出，设计相应的类和全局函数。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3</a:t>
            </a:fld>
            <a:endParaRPr lang="en-US"/>
          </a:p>
        </p:txBody>
      </p:sp>
      <p:sp>
        <p:nvSpPr>
          <p:cNvPr id="7" name="Content Placeholder 2"/>
          <p:cNvSpPr txBox="1"/>
          <p:nvPr/>
        </p:nvSpPr>
        <p:spPr>
          <a:xfrm>
            <a:off x="628650" y="1623195"/>
            <a:ext cx="7886700" cy="4733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35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1" name="Content Placeholder 7"/>
          <p:cNvSpPr txBox="1"/>
          <p:nvPr/>
        </p:nvSpPr>
        <p:spPr>
          <a:xfrm>
            <a:off x="607056" y="5371337"/>
            <a:ext cx="4176464" cy="505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35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ja-JP" altLang="en-US"/>
          </a:p>
        </p:txBody>
      </p:sp>
      <p:sp>
        <p:nvSpPr>
          <p:cNvPr id="13" name="Content Placeholder 7"/>
          <p:cNvSpPr txBox="1"/>
          <p:nvPr/>
        </p:nvSpPr>
        <p:spPr>
          <a:xfrm>
            <a:off x="395536" y="4681506"/>
            <a:ext cx="4176464" cy="505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35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>
              <a:buNone/>
            </a:pPr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重点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 类和对象</a:t>
            </a:r>
            <a:endParaRPr lang="en-US" altLang="zh-CN" dirty="0"/>
          </a:p>
          <a:p>
            <a:pPr lvl="1"/>
            <a:r>
              <a:rPr lang="en-US" dirty="0" err="1"/>
              <a:t>对象和类</a:t>
            </a:r>
            <a:r>
              <a:rPr lang="en-US" dirty="0"/>
              <a:t> </a:t>
            </a:r>
            <a:r>
              <a:rPr lang="zh-CN" altLang="en-US" dirty="0"/>
              <a:t>：已读</a:t>
            </a:r>
            <a:endParaRPr lang="en-US" dirty="0"/>
          </a:p>
          <a:p>
            <a:pPr lvl="1"/>
            <a:r>
              <a:rPr lang="en-US" dirty="0" err="1"/>
              <a:t>对象的访问控制</a:t>
            </a:r>
            <a:r>
              <a:rPr lang="en-US" dirty="0"/>
              <a:t> </a:t>
            </a:r>
            <a:r>
              <a:rPr lang="zh-CN" altLang="en-US" dirty="0"/>
              <a:t>：已读</a:t>
            </a:r>
            <a:endParaRPr lang="en-US" dirty="0"/>
          </a:p>
          <a:p>
            <a:pPr lvl="1"/>
            <a:r>
              <a:rPr lang="en-US" dirty="0" err="1"/>
              <a:t>对象的初始化和消亡</a:t>
            </a:r>
            <a:r>
              <a:rPr lang="en-US" dirty="0"/>
              <a:t> </a:t>
            </a:r>
            <a:r>
              <a:rPr lang="zh-CN" altLang="en-US" dirty="0"/>
              <a:t>：已读</a:t>
            </a:r>
            <a:endParaRPr lang="en-US" dirty="0"/>
          </a:p>
          <a:p>
            <a:pPr lvl="1"/>
            <a:r>
              <a:rPr lang="en-US" dirty="0"/>
              <a:t>常量对象</a:t>
            </a:r>
            <a:r>
              <a:rPr lang="zh-CN" altLang="en-US" dirty="0"/>
              <a:t>、静态对象、友元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继承</a:t>
            </a:r>
            <a:r>
              <a:rPr lang="en-US" altLang="zh-CN" dirty="0"/>
              <a:t>-</a:t>
            </a:r>
            <a:r>
              <a:rPr lang="zh-CN" altLang="en-US" dirty="0"/>
              <a:t>派生类</a:t>
            </a:r>
            <a:endParaRPr lang="en-US" altLang="zh-CN" dirty="0"/>
          </a:p>
          <a:p>
            <a:pPr lvl="1"/>
            <a:r>
              <a:rPr lang="zh-CN" altLang="en-US" dirty="0"/>
              <a:t>单继承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en-US" altLang="zh-CN" dirty="0"/>
          </a:p>
          <a:p>
            <a:pPr lvl="1"/>
            <a:r>
              <a:rPr lang="zh-CN" altLang="en-US" dirty="0"/>
              <a:t>消息的多态和动态绑定</a:t>
            </a:r>
            <a:r>
              <a:rPr lang="en-US" altLang="zh-CN" dirty="0"/>
              <a:t> </a:t>
            </a:r>
            <a:r>
              <a:rPr lang="zh-CN" altLang="en-US" dirty="0"/>
              <a:t>；已读</a:t>
            </a:r>
            <a:endParaRPr lang="en-US" altLang="zh-CN" dirty="0"/>
          </a:p>
          <a:p>
            <a:pPr lvl="1"/>
            <a:r>
              <a:rPr lang="zh-CN" altLang="en-US" dirty="0"/>
              <a:t>抽象类、多继承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重点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 异常处理</a:t>
            </a:r>
            <a:endParaRPr lang="en-US" altLang="zh-CN" dirty="0"/>
          </a:p>
          <a:p>
            <a:pPr lvl="1"/>
            <a:r>
              <a:rPr lang="zh-CN" altLang="en-US" dirty="0"/>
              <a:t>异常的异地处理、结构化异常处理、</a:t>
            </a:r>
            <a:r>
              <a:rPr lang="en-US" altLang="zh-CN" dirty="0"/>
              <a:t>try-catch </a:t>
            </a:r>
            <a:r>
              <a:rPr lang="zh-CN" altLang="en-US" dirty="0"/>
              <a:t>：已读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US" altLang="zh-CN" dirty="0"/>
              <a:t>IO</a:t>
            </a:r>
          </a:p>
          <a:p>
            <a:pPr lvl="1"/>
            <a:r>
              <a:rPr lang="zh-CN" altLang="en-US" dirty="0"/>
              <a:t>面向控制台的</a:t>
            </a:r>
            <a:r>
              <a:rPr lang="en-US" altLang="zh-CN" dirty="0"/>
              <a:t>IO </a:t>
            </a:r>
            <a:r>
              <a:rPr lang="zh-CN" altLang="en-US" dirty="0"/>
              <a:t>：已读</a:t>
            </a:r>
            <a:endParaRPr lang="en-US" altLang="zh-CN" dirty="0"/>
          </a:p>
          <a:p>
            <a:pPr lvl="1"/>
            <a:r>
              <a:rPr lang="zh-CN" altLang="en-US" dirty="0"/>
              <a:t>面向文件的</a:t>
            </a:r>
            <a:r>
              <a:rPr lang="en-US" altLang="zh-CN" dirty="0"/>
              <a:t>IO </a:t>
            </a:r>
            <a:r>
              <a:rPr lang="zh-CN" altLang="en-US" dirty="0"/>
              <a:t>：已读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 操作符重载</a:t>
            </a:r>
            <a:endParaRPr lang="en-US" altLang="zh-CN" dirty="0"/>
          </a:p>
          <a:p>
            <a:pPr lvl="1"/>
            <a:r>
              <a:rPr lang="zh-CN" altLang="en-US" dirty="0"/>
              <a:t>单目操作符重载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en-US" altLang="zh-CN" dirty="0"/>
          </a:p>
          <a:p>
            <a:pPr lvl="1"/>
            <a:r>
              <a:rPr lang="zh-CN" altLang="en-US" dirty="0"/>
              <a:t>双目操作符重载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en-US" altLang="zh-CN" dirty="0"/>
          </a:p>
          <a:p>
            <a:pPr lvl="1"/>
            <a:r>
              <a:rPr lang="zh-CN" altLang="en-US" dirty="0"/>
              <a:t>特殊操作符重载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重点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6.</a:t>
            </a:r>
            <a:r>
              <a:rPr lang="zh-CN" altLang="en-US" dirty="0"/>
              <a:t> 范型、</a:t>
            </a:r>
            <a:r>
              <a:rPr lang="en-US" altLang="zh-CN" dirty="0"/>
              <a:t>STL</a:t>
            </a:r>
          </a:p>
          <a:p>
            <a:pPr lvl="1"/>
            <a:r>
              <a:rPr lang="zh-CN" altLang="en-US" dirty="0"/>
              <a:t>函数模板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en-US" altLang="zh-CN" dirty="0"/>
          </a:p>
          <a:p>
            <a:pPr lvl="1"/>
            <a:r>
              <a:rPr lang="zh-CN" altLang="en-US" dirty="0"/>
              <a:t>类模板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en-US" altLang="zh-CN" dirty="0"/>
          </a:p>
          <a:p>
            <a:pPr lvl="1"/>
            <a:r>
              <a:rPr lang="en-US" altLang="zh-CN" dirty="0"/>
              <a:t>STL</a:t>
            </a:r>
            <a:r>
              <a:rPr lang="zh-CN" altLang="en-US" dirty="0"/>
              <a:t>中的容器类模板、算法模板、迭代器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en-US" altLang="zh-CN" dirty="0"/>
          </a:p>
          <a:p>
            <a:r>
              <a:rPr lang="en-US" altLang="zh-CN" dirty="0"/>
              <a:t>7.</a:t>
            </a:r>
            <a:r>
              <a:rPr lang="zh-CN" altLang="en-US" dirty="0"/>
              <a:t> 消息（事件）驱动的程序设计</a:t>
            </a:r>
            <a:endParaRPr lang="en-US" altLang="zh-CN" dirty="0"/>
          </a:p>
          <a:p>
            <a:pPr lvl="1"/>
            <a:r>
              <a:rPr lang="zh-CN" altLang="en-US" dirty="0"/>
              <a:t>消息驱动的程序结构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en-US" altLang="zh-CN" dirty="0"/>
          </a:p>
          <a:p>
            <a:pPr lvl="1"/>
            <a:r>
              <a:rPr lang="zh-CN" altLang="en-US" dirty="0"/>
              <a:t>过程式</a:t>
            </a:r>
            <a:r>
              <a:rPr lang="en-US" altLang="zh-CN" dirty="0"/>
              <a:t>Windows</a:t>
            </a:r>
            <a:r>
              <a:rPr lang="zh-CN" altLang="en-US" dirty="0"/>
              <a:t>应用程序设计：已读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面向对象的</a:t>
            </a:r>
            <a:r>
              <a:rPr lang="en-US" altLang="zh-CN" dirty="0"/>
              <a:t>Windows</a:t>
            </a:r>
            <a:r>
              <a:rPr lang="zh-CN" altLang="en-US" dirty="0"/>
              <a:t>应用程序设计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en-US" altLang="zh-CN" dirty="0"/>
          </a:p>
          <a:p>
            <a:r>
              <a:rPr lang="en-US" altLang="zh-CN" dirty="0"/>
              <a:t>8.</a:t>
            </a:r>
            <a:r>
              <a:rPr lang="zh-CN" altLang="en-US" dirty="0"/>
              <a:t>函数式、逻辑式编程</a:t>
            </a:r>
            <a:endParaRPr lang="en-US" altLang="zh-CN" dirty="0"/>
          </a:p>
          <a:p>
            <a:pPr lvl="1"/>
            <a:r>
              <a:rPr lang="zh-CN" altLang="en-US" dirty="0"/>
              <a:t>程序设计范式简介</a:t>
            </a:r>
            <a:r>
              <a:rPr lang="en-US" altLang="zh-CN" dirty="0"/>
              <a:t> </a:t>
            </a:r>
            <a:r>
              <a:rPr lang="zh-CN" altLang="en-US" dirty="0"/>
              <a:t>：已读</a:t>
            </a:r>
            <a:endParaRPr lang="en-US" altLang="zh-CN" dirty="0"/>
          </a:p>
          <a:p>
            <a:pPr lvl="1"/>
            <a:r>
              <a:rPr lang="zh-CN" altLang="en-US" dirty="0"/>
              <a:t>函数式程序设计：已读</a:t>
            </a:r>
            <a:endParaRPr lang="en-US" altLang="zh-CN" dirty="0"/>
          </a:p>
          <a:p>
            <a:pPr lvl="1"/>
            <a:r>
              <a:rPr lang="zh-CN" altLang="en-US"/>
              <a:t>逻辑式程序设计：已读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dd3f559-4654-402c-a212-07de07c482fc"/>
  <p:tag name="COMMONDATA" val="eyJoZGlkIjoiZTczZGJiMzk3NmE4MTFmY2I0NmVkOTVhODY4OTk3OT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iragino">
      <a:majorFont>
        <a:latin typeface="CMU Sans Serif"/>
        <a:ea typeface="Hiragino Sans GB W3"/>
        <a:cs typeface=""/>
      </a:majorFont>
      <a:minorFont>
        <a:latin typeface="CMU Sans Serif"/>
        <a:ea typeface="Hiragino Sans GB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332</Words>
  <Application>Microsoft Office PowerPoint</Application>
  <PresentationFormat>全屏显示(4:3)</PresentationFormat>
  <Paragraphs>55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CMU Sans Serif</vt:lpstr>
      <vt:lpstr>Hiragino Sans GB W3</vt:lpstr>
      <vt:lpstr>等线</vt:lpstr>
      <vt:lpstr>宋体</vt:lpstr>
      <vt:lpstr>Arial</vt:lpstr>
      <vt:lpstr>Calibri</vt:lpstr>
      <vt:lpstr>Times New Roman</vt:lpstr>
      <vt:lpstr>Office 主题​​</vt:lpstr>
      <vt:lpstr>题型和重要考点</vt:lpstr>
      <vt:lpstr>题型</vt:lpstr>
      <vt:lpstr>题型</vt:lpstr>
      <vt:lpstr>重点</vt:lpstr>
      <vt:lpstr>重点</vt:lpstr>
      <vt:lpstr>重点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</dc:creator>
  <cp:lastModifiedBy>荣昊 黄</cp:lastModifiedBy>
  <cp:revision>1025</cp:revision>
  <cp:lastPrinted>2021-03-05T07:22:00Z</cp:lastPrinted>
  <dcterms:created xsi:type="dcterms:W3CDTF">2113-01-01T00:00:00Z</dcterms:created>
  <dcterms:modified xsi:type="dcterms:W3CDTF">2024-06-16T08:44:20Z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77C29FD8C391453A84E3CC2EC9882D92_12</vt:lpwstr>
  </property>
  <property fmtid="{D5CDD505-2E9C-101B-9397-08002B2CF9AE}" pid="3" name="KSOProductBuildVer">
    <vt:lpwstr>2052-11.1.0.14309</vt:lpwstr>
  </property>
</Properties>
</file>